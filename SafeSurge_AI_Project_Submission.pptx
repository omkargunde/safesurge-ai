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75" r:id="rId3"/>
    <p:sldId id="257" r:id="rId4"/>
    <p:sldId id="258" r:id="rId5"/>
    <p:sldId id="259" r:id="rId6"/>
    <p:sldId id="260" r:id="rId7"/>
    <p:sldId id="261" r:id="rId8"/>
    <p:sldId id="262" r:id="rId9"/>
    <p:sldId id="263" r:id="rId10"/>
    <p:sldId id="264" r:id="rId11"/>
    <p:sldId id="266" r:id="rId12"/>
    <p:sldId id="267" r:id="rId13"/>
    <p:sldId id="268" r:id="rId14"/>
    <p:sldId id="269" r:id="rId15"/>
    <p:sldId id="270" r:id="rId16"/>
    <p:sldId id="271" r:id="rId17"/>
    <p:sldId id="272" r:id="rId18"/>
    <p:sldId id="273" r:id="rId19"/>
    <p:sldId id="274" r:id="rId20"/>
    <p:sldId id="276" r:id="rId21"/>
    <p:sldId id="277"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9451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02759-AA41-9199-845C-91D952FB81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0BD391-E1CB-4CD9-D165-831BC24747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97E0C6-4221-26A0-0D7A-62A857EE88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A0D41F-6B06-5CAF-3928-984844FB40D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13988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072905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2403051247006@paruluniversity.ac.i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jpeg"/><Relationship Id="rId4" Type="http://schemas.openxmlformats.org/officeDocument/2006/relationships/hyperlink" Target="mailto:gundeomkar2004@gmail.com"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OmkarGunde/SafeSurge-AI"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0E1A"/>
          </a:solidFill>
          <a:ln/>
        </p:spPr>
      </p:sp>
      <p:sp>
        <p:nvSpPr>
          <p:cNvPr id="3" name="Text 1"/>
          <p:cNvSpPr/>
          <p:nvPr/>
        </p:nvSpPr>
        <p:spPr>
          <a:xfrm>
            <a:off x="731520" y="2103120"/>
            <a:ext cx="10698480" cy="457200"/>
          </a:xfrm>
          <a:prstGeom prst="rect">
            <a:avLst/>
          </a:prstGeom>
          <a:noFill/>
          <a:ln/>
        </p:spPr>
        <p:txBody>
          <a:bodyPr wrap="square" rtlCol="0" anchor="ctr"/>
          <a:lstStyle/>
          <a:p>
            <a:pPr marL="0" indent="0" algn="ctr">
              <a:buNone/>
            </a:pPr>
            <a:r>
              <a:rPr lang="en-US" sz="1500" b="1" kern="0" spc="200" dirty="0">
                <a:solidFill>
                  <a:srgbClr val="60A5FA"/>
                </a:solidFill>
                <a:latin typeface="Arial" pitchFamily="34" charset="0"/>
                <a:ea typeface="Arial" pitchFamily="34" charset="-122"/>
                <a:cs typeface="Arial" pitchFamily="34" charset="-120"/>
              </a:rPr>
              <a:t>IBM UNIVERSITY ENGAGEMENT — PROJECT SUBMISSION</a:t>
            </a:r>
            <a:endParaRPr lang="en-US" sz="1500" dirty="0"/>
          </a:p>
        </p:txBody>
      </p:sp>
      <p:sp>
        <p:nvSpPr>
          <p:cNvPr id="4" name="Text 2"/>
          <p:cNvSpPr/>
          <p:nvPr/>
        </p:nvSpPr>
        <p:spPr>
          <a:xfrm>
            <a:off x="731520" y="2606040"/>
            <a:ext cx="10698480" cy="1005840"/>
          </a:xfrm>
          <a:prstGeom prst="rect">
            <a:avLst/>
          </a:prstGeom>
          <a:noFill/>
          <a:ln/>
        </p:spPr>
        <p:txBody>
          <a:bodyPr wrap="square"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SafeSurge AI</a:t>
            </a:r>
            <a:endParaRPr lang="en-US" sz="5400" dirty="0"/>
          </a:p>
        </p:txBody>
      </p:sp>
      <p:sp>
        <p:nvSpPr>
          <p:cNvPr id="5" name="Text 3"/>
          <p:cNvSpPr/>
          <p:nvPr/>
        </p:nvSpPr>
        <p:spPr>
          <a:xfrm>
            <a:off x="731520" y="3611880"/>
            <a:ext cx="10698480" cy="502920"/>
          </a:xfrm>
          <a:prstGeom prst="rect">
            <a:avLst/>
          </a:prstGeom>
          <a:noFill/>
          <a:ln/>
        </p:spPr>
        <p:txBody>
          <a:bodyPr wrap="square" rtlCol="0" anchor="ctr"/>
          <a:lstStyle/>
          <a:p>
            <a:pPr marL="0" indent="0" algn="ctr">
              <a:buNone/>
            </a:pPr>
            <a:r>
              <a:rPr lang="en-US" sz="2000" dirty="0">
                <a:solidFill>
                  <a:srgbClr val="E8EDF5"/>
                </a:solidFill>
                <a:latin typeface="Arial" pitchFamily="34" charset="0"/>
                <a:ea typeface="Arial" pitchFamily="34" charset="-122"/>
                <a:cs typeface="Arial" pitchFamily="34" charset="-120"/>
              </a:rPr>
              <a:t>Agentic Coastal Disaster Intelligence &amp; Response Platform</a:t>
            </a:r>
            <a:endParaRPr lang="en-US" sz="2000" dirty="0"/>
          </a:p>
        </p:txBody>
      </p:sp>
      <p:sp>
        <p:nvSpPr>
          <p:cNvPr id="6" name="Text 4"/>
          <p:cNvSpPr/>
          <p:nvPr/>
        </p:nvSpPr>
        <p:spPr>
          <a:xfrm>
            <a:off x="731520" y="4160520"/>
            <a:ext cx="10698480" cy="411480"/>
          </a:xfrm>
          <a:prstGeom prst="rect">
            <a:avLst/>
          </a:prstGeom>
          <a:noFill/>
          <a:ln/>
        </p:spPr>
        <p:txBody>
          <a:bodyPr wrap="square" rtlCol="0" anchor="ctr"/>
          <a:lstStyle/>
          <a:p>
            <a:pPr marL="0" indent="0" algn="ctr">
              <a:buNone/>
            </a:pPr>
            <a:r>
              <a:rPr lang="en-US" sz="1300" dirty="0">
                <a:solidFill>
                  <a:srgbClr val="8A9AB8"/>
                </a:solidFill>
                <a:latin typeface="Arial" pitchFamily="34" charset="0"/>
                <a:ea typeface="Arial" pitchFamily="34" charset="-122"/>
                <a:cs typeface="Arial" pitchFamily="34" charset="-120"/>
              </a:rPr>
              <a:t>Gujarat Hackathon 2026 · Challenge 6 — AI-Driven Cyclone &amp; Coastal Disaster Early Warning System</a:t>
            </a:r>
            <a:endParaRPr lang="en-US" sz="1300" dirty="0"/>
          </a:p>
        </p:txBody>
      </p:sp>
      <p:sp>
        <p:nvSpPr>
          <p:cNvPr id="7" name="Shape 5"/>
          <p:cNvSpPr/>
          <p:nvPr/>
        </p:nvSpPr>
        <p:spPr>
          <a:xfrm>
            <a:off x="4937760" y="4800600"/>
            <a:ext cx="2286000" cy="0"/>
          </a:xfrm>
          <a:prstGeom prst="line">
            <a:avLst/>
          </a:prstGeom>
          <a:noFill/>
          <a:ln w="12700">
            <a:solidFill>
              <a:srgbClr val="2A3548"/>
            </a:solidFill>
            <a:prstDash val="solid"/>
          </a:ln>
        </p:spPr>
      </p:sp>
      <p:sp>
        <p:nvSpPr>
          <p:cNvPr id="8" name="Text 6"/>
          <p:cNvSpPr/>
          <p:nvPr/>
        </p:nvSpPr>
        <p:spPr>
          <a:xfrm>
            <a:off x="731520" y="5029200"/>
            <a:ext cx="10698480" cy="365760"/>
          </a:xfrm>
          <a:prstGeom prst="rect">
            <a:avLst/>
          </a:prstGeom>
          <a:noFill/>
          <a:ln/>
        </p:spPr>
        <p:txBody>
          <a:bodyPr wrap="square" rtlCol="0" anchor="ctr"/>
          <a:lstStyle/>
          <a:p>
            <a:pPr marL="0" indent="0" algn="ctr">
              <a:buNone/>
            </a:pPr>
            <a:r>
              <a:rPr lang="en-US" sz="1300" dirty="0">
                <a:solidFill>
                  <a:srgbClr val="60A5FA"/>
                </a:solidFill>
                <a:latin typeface="Arial" pitchFamily="34" charset="0"/>
                <a:ea typeface="Arial" pitchFamily="34" charset="-122"/>
                <a:cs typeface="Arial" pitchFamily="34" charset="-120"/>
              </a:rPr>
              <a:t>Built with IBM watsonx.ai · IBM Granite (granite-4-h-small) · IBM Bob</a:t>
            </a:r>
            <a:endParaRPr lang="en-US" sz="1300" dirty="0"/>
          </a:p>
        </p:txBody>
      </p:sp>
      <p:sp>
        <p:nvSpPr>
          <p:cNvPr id="9" name="Text 7"/>
          <p:cNvSpPr/>
          <p:nvPr/>
        </p:nvSpPr>
        <p:spPr>
          <a:xfrm>
            <a:off x="731520" y="5943600"/>
            <a:ext cx="10698480" cy="365760"/>
          </a:xfrm>
          <a:prstGeom prst="rect">
            <a:avLst/>
          </a:prstGeom>
          <a:noFill/>
          <a:ln/>
        </p:spPr>
        <p:txBody>
          <a:bodyPr wrap="square" rtlCol="0" anchor="ctr"/>
          <a:lstStyle/>
          <a:p>
            <a:pPr marL="0" indent="0" algn="ctr">
              <a:buNone/>
            </a:pPr>
            <a:r>
              <a:rPr lang="en-US" sz="1400" b="1" dirty="0">
                <a:solidFill>
                  <a:srgbClr val="E8EDF5"/>
                </a:solidFill>
                <a:latin typeface="Arial" pitchFamily="34" charset="0"/>
                <a:ea typeface="Arial" pitchFamily="34" charset="-122"/>
                <a:cs typeface="Arial" pitchFamily="34" charset="-120"/>
              </a:rPr>
              <a:t>Omkar Shyam Gunde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275488517"/>
              </p:ext>
            </p:extLst>
          </p:nvPr>
        </p:nvGraphicFramePr>
        <p:xfrm>
          <a:off x="1299257" y="2600315"/>
          <a:ext cx="9394989" cy="2436287"/>
        </p:xfrm>
        <a:graphic>
          <a:graphicData uri="http://schemas.openxmlformats.org/drawingml/2006/table">
            <a:tbl>
              <a:tblPr>
                <a:noFill/>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Omkar Shyam Gunde</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hlinkClick r:id="rId3"/>
                        </a:rPr>
                        <a:t>2403051247006@paruluniversity.ac.in</a:t>
                      </a:r>
                      <a:endParaRPr lang="en-IN" dirty="0"/>
                    </a:p>
                    <a:p>
                      <a:pPr marL="0" marR="0" lvl="0" indent="0" algn="l" rtl="0">
                        <a:spcBef>
                          <a:spcPts val="0"/>
                        </a:spcBef>
                        <a:spcAft>
                          <a:spcPts val="0"/>
                        </a:spcAft>
                        <a:buNone/>
                      </a:pPr>
                      <a:r>
                        <a:rPr lang="en-IN" dirty="0">
                          <a:hlinkClick r:id="rId4"/>
                        </a:rPr>
                        <a:t>gundeomkar2004@gmail.com</a:t>
                      </a:r>
                      <a:endParaRPr lang="en-IN" dirty="0"/>
                    </a:p>
                    <a:p>
                      <a:pPr marL="0" marR="0" lvl="0" indent="0" algn="l" rtl="0">
                        <a:spcBef>
                          <a:spcPts val="0"/>
                        </a:spcBef>
                        <a:spcAft>
                          <a:spcPts val="0"/>
                        </a:spcAft>
                        <a:buNone/>
                      </a:pPr>
                      <a:endParaRPr lang="en-IN"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8104945507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Disaster Management</a:t>
            </a:r>
          </a:p>
        </p:txBody>
      </p:sp>
      <p:sp>
        <p:nvSpPr>
          <p:cNvPr id="7" name="TextBox 6">
            <a:extLst>
              <a:ext uri="{FF2B5EF4-FFF2-40B4-BE49-F238E27FC236}">
                <a16:creationId xmlns:a16="http://schemas.microsoft.com/office/drawing/2014/main" id="{3D723CA3-EC2D-165A-F109-3759C4E9C8A4}"/>
              </a:ext>
            </a:extLst>
          </p:cNvPr>
          <p:cNvSpPr txBox="1"/>
          <p:nvPr/>
        </p:nvSpPr>
        <p:spPr>
          <a:xfrm>
            <a:off x="1113069" y="551965"/>
            <a:ext cx="9581177" cy="830997"/>
          </a:xfrm>
          <a:prstGeom prst="rect">
            <a:avLst/>
          </a:prstGeom>
          <a:noFill/>
        </p:spPr>
        <p:txBody>
          <a:bodyPr wrap="square" rtlCol="0">
            <a:spAutoFit/>
          </a:bodyPr>
          <a:lstStyle/>
          <a:p>
            <a:pPr algn="ctr"/>
            <a:r>
              <a:rPr lang="en-US" sz="2400" b="1"/>
              <a:t>Project Title – </a:t>
            </a:r>
            <a:r>
              <a:rPr lang="en-US" sz="2400" b="1">
                <a:latin typeface="Arial" pitchFamily="34" charset="0"/>
                <a:ea typeface="Arial" pitchFamily="34" charset="-122"/>
                <a:cs typeface="Arial" pitchFamily="34" charset="-120"/>
              </a:rPr>
              <a:t>SafeSurge</a:t>
            </a:r>
            <a:r>
              <a:rPr lang="en-US" sz="2400" b="1" dirty="0">
                <a:latin typeface="Arial" pitchFamily="34" charset="0"/>
                <a:ea typeface="Arial" pitchFamily="34" charset="-122"/>
                <a:cs typeface="Arial" pitchFamily="34" charset="-120"/>
              </a:rPr>
              <a:t> AI — Agentic Coastal Disaster Intelligence &amp; Response Platform</a:t>
            </a:r>
            <a:endParaRPr lang="en-US" sz="2400" b="1" dirty="0"/>
          </a:p>
        </p:txBody>
      </p:sp>
      <p:pic>
        <p:nvPicPr>
          <p:cNvPr id="5" name="Picture 4">
            <a:extLst>
              <a:ext uri="{FF2B5EF4-FFF2-40B4-BE49-F238E27FC236}">
                <a16:creationId xmlns:a16="http://schemas.microsoft.com/office/drawing/2014/main" id="{266B0315-73C7-E890-38DD-272EDB1B8B7C}"/>
              </a:ext>
            </a:extLst>
          </p:cNvPr>
          <p:cNvPicPr>
            <a:picLocks noChangeAspect="1"/>
          </p:cNvPicPr>
          <p:nvPr/>
        </p:nvPicPr>
        <p:blipFill>
          <a:blip r:embed="rId5"/>
          <a:srcRect l="28595" t="22704" r="33479" b="44017"/>
          <a:stretch>
            <a:fillRect/>
          </a:stretch>
        </p:blipFill>
        <p:spPr>
          <a:xfrm>
            <a:off x="4114801" y="3672756"/>
            <a:ext cx="798021" cy="1244877"/>
          </a:xfrm>
          <a:prstGeom prst="rect">
            <a:avLst/>
          </a:prstGeom>
        </p:spPr>
      </p:pic>
      <p:sp>
        <p:nvSpPr>
          <p:cNvPr id="2" name="TextBox 1">
            <a:extLst>
              <a:ext uri="{FF2B5EF4-FFF2-40B4-BE49-F238E27FC236}">
                <a16:creationId xmlns:a16="http://schemas.microsoft.com/office/drawing/2014/main" id="{BEE1E4D6-E7EC-FBB6-28DB-88014A27050E}"/>
              </a:ext>
            </a:extLst>
          </p:cNvPr>
          <p:cNvSpPr txBox="1"/>
          <p:nvPr/>
        </p:nvSpPr>
        <p:spPr>
          <a:xfrm>
            <a:off x="1299257" y="5300915"/>
            <a:ext cx="5038531" cy="1292662"/>
          </a:xfrm>
          <a:prstGeom prst="rect">
            <a:avLst/>
          </a:prstGeom>
          <a:noFill/>
        </p:spPr>
        <p:txBody>
          <a:bodyPr wrap="square" rtlCol="0">
            <a:spAutoFit/>
          </a:bodyPr>
          <a:lstStyle/>
          <a:p>
            <a:r>
              <a:rPr lang="en-IN" sz="2400" b="1" dirty="0"/>
              <a:t>Team members:</a:t>
            </a:r>
            <a:br>
              <a:rPr lang="en-IN" b="1" dirty="0"/>
            </a:br>
            <a:r>
              <a:rPr lang="en-IN" b="1" dirty="0"/>
              <a:t>1. Omkar Shyam Gunde</a:t>
            </a:r>
            <a:br>
              <a:rPr lang="en-IN" b="1" dirty="0"/>
            </a:br>
            <a:r>
              <a:rPr lang="en-IN" b="1" dirty="0"/>
              <a:t>2. </a:t>
            </a:r>
            <a:r>
              <a:rPr lang="en-IN" b="1" dirty="0" err="1"/>
              <a:t>Ridam</a:t>
            </a:r>
            <a:r>
              <a:rPr lang="en-IN" b="1" dirty="0"/>
              <a:t> Saxena</a:t>
            </a:r>
          </a:p>
          <a:p>
            <a:r>
              <a:rPr lang="en-IN" b="1" dirty="0"/>
              <a:t>3. Prem Arvind Patil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marL="0" indent="0">
              <a:buNone/>
            </a:pPr>
            <a:r>
              <a:rPr lang="en-US" sz="1300" b="1" kern="0" spc="200" dirty="0">
                <a:solidFill>
                  <a:srgbClr val="60A5FA"/>
                </a:solidFill>
                <a:latin typeface="Arial" pitchFamily="34" charset="0"/>
                <a:ea typeface="Arial" pitchFamily="34" charset="-122"/>
                <a:cs typeface="Arial" pitchFamily="34" charset="-120"/>
              </a:rPr>
              <a:t>PROJECT INFORMATION</a:t>
            </a:r>
            <a:endParaRPr lang="en-US" sz="1300" dirty="0"/>
          </a:p>
        </p:txBody>
      </p:sp>
      <p:sp>
        <p:nvSpPr>
          <p:cNvPr id="3" name="Text 1"/>
          <p:cNvSpPr/>
          <p:nvPr/>
        </p:nvSpPr>
        <p:spPr>
          <a:xfrm>
            <a:off x="548640" y="713232"/>
            <a:ext cx="11064240" cy="82296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Domain &amp; Project Title</a:t>
            </a:r>
            <a:endParaRPr lang="en-US" sz="3000" dirty="0"/>
          </a:p>
        </p:txBody>
      </p:sp>
      <p:sp>
        <p:nvSpPr>
          <p:cNvPr id="4" name="Shape 2"/>
          <p:cNvSpPr/>
          <p:nvPr/>
        </p:nvSpPr>
        <p:spPr>
          <a:xfrm>
            <a:off x="548640" y="1737360"/>
            <a:ext cx="5303520" cy="2011680"/>
          </a:xfrm>
          <a:prstGeom prst="rect">
            <a:avLst/>
          </a:prstGeom>
          <a:solidFill>
            <a:srgbClr val="111827"/>
          </a:solidFill>
          <a:ln w="12700">
            <a:solidFill>
              <a:srgbClr val="2A3548"/>
            </a:solidFill>
            <a:prstDash val="solid"/>
          </a:ln>
        </p:spPr>
      </p:sp>
      <p:sp>
        <p:nvSpPr>
          <p:cNvPr id="5" name="Text 3"/>
          <p:cNvSpPr/>
          <p:nvPr/>
        </p:nvSpPr>
        <p:spPr>
          <a:xfrm>
            <a:off x="777240" y="1901952"/>
            <a:ext cx="4846320" cy="365760"/>
          </a:xfrm>
          <a:prstGeom prst="rect">
            <a:avLst/>
          </a:prstGeom>
          <a:noFill/>
          <a:ln/>
        </p:spPr>
        <p:txBody>
          <a:bodyPr wrap="square" rtlCol="0" anchor="ctr"/>
          <a:lstStyle/>
          <a:p>
            <a:pPr marL="0" indent="0">
              <a:buNone/>
            </a:pPr>
            <a:r>
              <a:rPr lang="en-US" sz="1500" b="1" dirty="0">
                <a:solidFill>
                  <a:srgbClr val="60A5FA"/>
                </a:solidFill>
                <a:latin typeface="Arial" pitchFamily="34" charset="0"/>
                <a:ea typeface="Arial" pitchFamily="34" charset="-122"/>
                <a:cs typeface="Arial" pitchFamily="34" charset="-120"/>
              </a:rPr>
              <a:t>Domain of Project</a:t>
            </a:r>
            <a:endParaRPr lang="en-US" sz="1500" dirty="0"/>
          </a:p>
        </p:txBody>
      </p:sp>
      <p:sp>
        <p:nvSpPr>
          <p:cNvPr id="6" name="Text 4"/>
          <p:cNvSpPr/>
          <p:nvPr/>
        </p:nvSpPr>
        <p:spPr>
          <a:xfrm>
            <a:off x="777240" y="2331720"/>
            <a:ext cx="4846320" cy="1234440"/>
          </a:xfrm>
          <a:prstGeom prst="rect">
            <a:avLst/>
          </a:prstGeom>
          <a:noFill/>
          <a:ln/>
        </p:spPr>
        <p:txBody>
          <a:bodyPr wrap="square" rtlCol="0" anchor="t"/>
          <a:lstStyle/>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Disaster Management</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(closest official category if a fixed dropdown is required: Environment / Agriculture — confirm exact wording with your program coordinator)</a:t>
            </a:r>
            <a:endParaRPr lang="en-US" sz="1200" dirty="0"/>
          </a:p>
        </p:txBody>
      </p:sp>
      <p:sp>
        <p:nvSpPr>
          <p:cNvPr id="7" name="Shape 5"/>
          <p:cNvSpPr/>
          <p:nvPr/>
        </p:nvSpPr>
        <p:spPr>
          <a:xfrm>
            <a:off x="6126480" y="1737360"/>
            <a:ext cx="5486400" cy="2011680"/>
          </a:xfrm>
          <a:prstGeom prst="rect">
            <a:avLst/>
          </a:prstGeom>
          <a:solidFill>
            <a:srgbClr val="111827"/>
          </a:solidFill>
          <a:ln w="12700">
            <a:solidFill>
              <a:srgbClr val="2A3548"/>
            </a:solidFill>
            <a:prstDash val="solid"/>
          </a:ln>
        </p:spPr>
      </p:sp>
      <p:sp>
        <p:nvSpPr>
          <p:cNvPr id="8" name="Text 6"/>
          <p:cNvSpPr/>
          <p:nvPr/>
        </p:nvSpPr>
        <p:spPr>
          <a:xfrm>
            <a:off x="6355080" y="1901952"/>
            <a:ext cx="5029200" cy="365760"/>
          </a:xfrm>
          <a:prstGeom prst="rect">
            <a:avLst/>
          </a:prstGeom>
          <a:noFill/>
          <a:ln/>
        </p:spPr>
        <p:txBody>
          <a:bodyPr wrap="square" rtlCol="0" anchor="ctr"/>
          <a:lstStyle/>
          <a:p>
            <a:pPr marL="0" indent="0">
              <a:buNone/>
            </a:pPr>
            <a:r>
              <a:rPr lang="en-US" sz="1500" b="1" dirty="0">
                <a:solidFill>
                  <a:srgbClr val="22C55E"/>
                </a:solidFill>
                <a:latin typeface="Arial" pitchFamily="34" charset="0"/>
                <a:ea typeface="Arial" pitchFamily="34" charset="-122"/>
                <a:cs typeface="Arial" pitchFamily="34" charset="-120"/>
              </a:rPr>
              <a:t>Project Title</a:t>
            </a:r>
            <a:endParaRPr lang="en-US" sz="1500" dirty="0"/>
          </a:p>
        </p:txBody>
      </p:sp>
      <p:sp>
        <p:nvSpPr>
          <p:cNvPr id="9" name="Text 7"/>
          <p:cNvSpPr/>
          <p:nvPr/>
        </p:nvSpPr>
        <p:spPr>
          <a:xfrm>
            <a:off x="6355080" y="2331720"/>
            <a:ext cx="5029200" cy="1234440"/>
          </a:xfrm>
          <a:prstGeom prst="rect">
            <a:avLst/>
          </a:prstGeom>
          <a:noFill/>
          <a:ln/>
        </p:spPr>
        <p:txBody>
          <a:bodyPr wrap="square" rtlCol="0" anchor="t"/>
          <a:lstStyle/>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SafeSurge AI — Agentic Coastal Disaster Intelligence &amp; Response Platform</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Built for Gujarat Hackathon 2026, Challenge 6</a:t>
            </a:r>
            <a:endParaRPr lang="en-US" sz="1200" dirty="0"/>
          </a:p>
        </p:txBody>
      </p:sp>
      <p:sp>
        <p:nvSpPr>
          <p:cNvPr id="10" name="Shape 8"/>
          <p:cNvSpPr/>
          <p:nvPr/>
        </p:nvSpPr>
        <p:spPr>
          <a:xfrm>
            <a:off x="548640" y="3977640"/>
            <a:ext cx="11064240" cy="2103120"/>
          </a:xfrm>
          <a:prstGeom prst="rect">
            <a:avLst/>
          </a:prstGeom>
          <a:solidFill>
            <a:srgbClr val="111827"/>
          </a:solidFill>
          <a:ln w="12700">
            <a:solidFill>
              <a:srgbClr val="2A3548"/>
            </a:solidFill>
            <a:prstDash val="solid"/>
          </a:ln>
        </p:spPr>
      </p:sp>
      <p:sp>
        <p:nvSpPr>
          <p:cNvPr id="11" name="Text 9"/>
          <p:cNvSpPr/>
          <p:nvPr/>
        </p:nvSpPr>
        <p:spPr>
          <a:xfrm>
            <a:off x="777240" y="4142232"/>
            <a:ext cx="10607040" cy="365760"/>
          </a:xfrm>
          <a:prstGeom prst="rect">
            <a:avLst/>
          </a:prstGeom>
          <a:noFill/>
          <a:ln/>
        </p:spPr>
        <p:txBody>
          <a:bodyPr wrap="square" rtlCol="0" anchor="ctr"/>
          <a:lstStyle/>
          <a:p>
            <a:pPr marL="0" indent="0">
              <a:buNone/>
            </a:pPr>
            <a:r>
              <a:rPr lang="en-US" sz="1500" b="1" dirty="0">
                <a:solidFill>
                  <a:srgbClr val="F59E0B"/>
                </a:solidFill>
                <a:latin typeface="Arial" pitchFamily="34" charset="0"/>
                <a:ea typeface="Arial" pitchFamily="34" charset="-122"/>
                <a:cs typeface="Arial" pitchFamily="34" charset="-120"/>
              </a:rPr>
              <a:t>One-line Summary</a:t>
            </a:r>
            <a:endParaRPr lang="en-US" sz="1500" dirty="0"/>
          </a:p>
        </p:txBody>
      </p:sp>
      <p:sp>
        <p:nvSpPr>
          <p:cNvPr id="12" name="Text 10"/>
          <p:cNvSpPr/>
          <p:nvPr/>
        </p:nvSpPr>
        <p:spPr>
          <a:xfrm>
            <a:off x="777240" y="4572000"/>
            <a:ext cx="10607040" cy="1325880"/>
          </a:xfrm>
          <a:prstGeom prst="rect">
            <a:avLst/>
          </a:prstGeom>
          <a:noFill/>
          <a:ln/>
        </p:spPr>
        <p:txBody>
          <a:bodyPr wrap="square" rtlCol="0" anchor="t"/>
          <a:lstStyle/>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A multi-agent AI system that fuses live INCOIS ocean forecasts and real historical cyclone data (Cyclone Biparjoy, 2023) with IBM Granite reasoning to deliver hyperlocal fishermen safety alerts, evacuation prioritization, and relief coordination for Gujarat's coastal districts — with every data point transparently labeled as live, historical, or demonstration.</a:t>
            </a:r>
            <a:endParaRPr lang="en-US" sz="1200" dirty="0"/>
          </a:p>
        </p:txBody>
      </p:sp>
      <p:sp>
        <p:nvSpPr>
          <p:cNvPr id="13" name="Text 11"/>
          <p:cNvSpPr/>
          <p:nvPr/>
        </p:nvSpPr>
        <p:spPr>
          <a:xfrm>
            <a:off x="11521440" y="6446520"/>
            <a:ext cx="548640" cy="320040"/>
          </a:xfrm>
          <a:prstGeom prst="rect">
            <a:avLst/>
          </a:prstGeom>
          <a:noFill/>
          <a:ln/>
        </p:spPr>
        <p:txBody>
          <a:bodyPr wrap="square" rtlCol="0" anchor="ctr"/>
          <a:lstStyle/>
          <a:p>
            <a:pPr marL="0" indent="0" algn="r">
              <a:buNone/>
            </a:pPr>
            <a:r>
              <a:rPr lang="en-US" sz="1100" dirty="0">
                <a:solidFill>
                  <a:srgbClr val="8A9AB8"/>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marL="0" indent="0">
              <a:buNone/>
            </a:pPr>
            <a:r>
              <a:rPr lang="en-US" sz="1300" b="1" kern="0" spc="200" dirty="0">
                <a:solidFill>
                  <a:srgbClr val="60A5FA"/>
                </a:solidFill>
                <a:latin typeface="Arial" pitchFamily="34" charset="0"/>
                <a:ea typeface="Arial" pitchFamily="34" charset="-122"/>
                <a:cs typeface="Arial" pitchFamily="34" charset="-120"/>
              </a:rPr>
              <a:t>PROBLEM STATEMENT</a:t>
            </a:r>
            <a:endParaRPr lang="en-US" sz="1300" dirty="0"/>
          </a:p>
        </p:txBody>
      </p:sp>
      <p:sp>
        <p:nvSpPr>
          <p:cNvPr id="3" name="Text 1"/>
          <p:cNvSpPr/>
          <p:nvPr/>
        </p:nvSpPr>
        <p:spPr>
          <a:xfrm>
            <a:off x="548640" y="713232"/>
            <a:ext cx="11064240" cy="82296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Challenge 6: Cyclone &amp; Coastal Disaster Early Warning</a:t>
            </a:r>
            <a:endParaRPr lang="en-US" sz="3000" dirty="0"/>
          </a:p>
        </p:txBody>
      </p:sp>
      <p:sp>
        <p:nvSpPr>
          <p:cNvPr id="4" name="Shape 2"/>
          <p:cNvSpPr/>
          <p:nvPr/>
        </p:nvSpPr>
        <p:spPr>
          <a:xfrm>
            <a:off x="548640" y="1737360"/>
            <a:ext cx="11064240" cy="1463040"/>
          </a:xfrm>
          <a:prstGeom prst="rect">
            <a:avLst/>
          </a:prstGeom>
          <a:solidFill>
            <a:srgbClr val="111827"/>
          </a:solidFill>
          <a:ln w="12700">
            <a:solidFill>
              <a:srgbClr val="2A3548"/>
            </a:solidFill>
            <a:prstDash val="solid"/>
          </a:ln>
        </p:spPr>
      </p:sp>
      <p:sp>
        <p:nvSpPr>
          <p:cNvPr id="5" name="Text 3"/>
          <p:cNvSpPr/>
          <p:nvPr/>
        </p:nvSpPr>
        <p:spPr>
          <a:xfrm>
            <a:off x="777240" y="1901952"/>
            <a:ext cx="10607040" cy="365760"/>
          </a:xfrm>
          <a:prstGeom prst="rect">
            <a:avLst/>
          </a:prstGeom>
          <a:noFill/>
          <a:ln/>
        </p:spPr>
        <p:txBody>
          <a:bodyPr wrap="square" rtlCol="0" anchor="ctr"/>
          <a:lstStyle/>
          <a:p>
            <a:pPr marL="0" indent="0">
              <a:buNone/>
            </a:pPr>
            <a:r>
              <a:rPr lang="en-US" sz="1500" b="1" dirty="0">
                <a:solidFill>
                  <a:srgbClr val="EF4444"/>
                </a:solidFill>
                <a:latin typeface="Arial" pitchFamily="34" charset="0"/>
                <a:ea typeface="Arial" pitchFamily="34" charset="-122"/>
                <a:cs typeface="Arial" pitchFamily="34" charset="-120"/>
              </a:rPr>
              <a:t>The Challenge</a:t>
            </a:r>
            <a:endParaRPr lang="en-US" sz="1500" dirty="0"/>
          </a:p>
        </p:txBody>
      </p:sp>
      <p:sp>
        <p:nvSpPr>
          <p:cNvPr id="6" name="Text 4"/>
          <p:cNvSpPr/>
          <p:nvPr/>
        </p:nvSpPr>
        <p:spPr>
          <a:xfrm>
            <a:off x="777240" y="2331720"/>
            <a:ext cx="10607040" cy="685800"/>
          </a:xfrm>
          <a:prstGeom prst="rect">
            <a:avLst/>
          </a:prstGeom>
          <a:noFill/>
          <a:ln/>
        </p:spPr>
        <p:txBody>
          <a:bodyPr wrap="square" rtlCol="0" anchor="t"/>
          <a:lstStyle/>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Gujarat's 1,600+ km coastline is highly vulnerable to cyclones (e.g., Tauktae, Biparjoy).</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Coastal communities and fishermen often receive delayed or generalized warnings, leading to preventable loss of life, boats, and property.</a:t>
            </a:r>
            <a:endParaRPr lang="en-US" sz="1200" dirty="0"/>
          </a:p>
        </p:txBody>
      </p:sp>
      <p:sp>
        <p:nvSpPr>
          <p:cNvPr id="7" name="Shape 5"/>
          <p:cNvSpPr/>
          <p:nvPr/>
        </p:nvSpPr>
        <p:spPr>
          <a:xfrm>
            <a:off x="548640" y="3383280"/>
            <a:ext cx="11064240" cy="2651760"/>
          </a:xfrm>
          <a:prstGeom prst="rect">
            <a:avLst/>
          </a:prstGeom>
          <a:solidFill>
            <a:srgbClr val="111827"/>
          </a:solidFill>
          <a:ln w="12700">
            <a:solidFill>
              <a:srgbClr val="2A3548"/>
            </a:solidFill>
            <a:prstDash val="solid"/>
          </a:ln>
        </p:spPr>
      </p:sp>
      <p:sp>
        <p:nvSpPr>
          <p:cNvPr id="8" name="Text 6"/>
          <p:cNvSpPr/>
          <p:nvPr/>
        </p:nvSpPr>
        <p:spPr>
          <a:xfrm>
            <a:off x="777240" y="3547872"/>
            <a:ext cx="10607040" cy="365760"/>
          </a:xfrm>
          <a:prstGeom prst="rect">
            <a:avLst/>
          </a:prstGeom>
          <a:noFill/>
          <a:ln/>
        </p:spPr>
        <p:txBody>
          <a:bodyPr wrap="square" rtlCol="0" anchor="ctr"/>
          <a:lstStyle/>
          <a:p>
            <a:pPr marL="0" indent="0">
              <a:buNone/>
            </a:pPr>
            <a:r>
              <a:rPr lang="en-US" sz="1500" b="1" dirty="0">
                <a:solidFill>
                  <a:srgbClr val="60A5FA"/>
                </a:solidFill>
                <a:latin typeface="Arial" pitchFamily="34" charset="0"/>
                <a:ea typeface="Arial" pitchFamily="34" charset="-122"/>
                <a:cs typeface="Arial" pitchFamily="34" charset="-120"/>
              </a:rPr>
              <a:t>The Objective</a:t>
            </a:r>
            <a:endParaRPr lang="en-US" sz="1500" dirty="0"/>
          </a:p>
        </p:txBody>
      </p:sp>
      <p:sp>
        <p:nvSpPr>
          <p:cNvPr id="9" name="Text 7"/>
          <p:cNvSpPr/>
          <p:nvPr/>
        </p:nvSpPr>
        <p:spPr>
          <a:xfrm>
            <a:off x="777240" y="3977640"/>
            <a:ext cx="10607040" cy="1874520"/>
          </a:xfrm>
          <a:prstGeom prst="rect">
            <a:avLst/>
          </a:prstGeom>
          <a:noFill/>
          <a:ln/>
        </p:spPr>
        <p:txBody>
          <a:bodyPr wrap="square" rtlCol="0" anchor="t"/>
          <a:lstStyle/>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Build Agentic AI solutions that provide hyperlocal cyclone tracking, fishermen safety alerts, and coordinated evacuation and relief planning for coastal districts.</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Cyclone Track &amp; Intensity Interpretation — contextualize authoritative forecast data (never self-generate a meteorological prediction)</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Fishermen Safety Alerts — localized, multilingual (English / Hindi / Gujarati)</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Evacuation Route &amp; Priority Planning — population, exposure, and shelter-aware</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Relief Resource Coordination — shortage detection and prioritization</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Post-Disaster Damage Assessment — structured, AI-scored intake</a:t>
            </a:r>
            <a:endParaRPr lang="en-US" sz="1200" dirty="0"/>
          </a:p>
        </p:txBody>
      </p:sp>
      <p:sp>
        <p:nvSpPr>
          <p:cNvPr id="10" name="Text 8"/>
          <p:cNvSpPr/>
          <p:nvPr/>
        </p:nvSpPr>
        <p:spPr>
          <a:xfrm>
            <a:off x="11521440" y="6446520"/>
            <a:ext cx="548640" cy="320040"/>
          </a:xfrm>
          <a:prstGeom prst="rect">
            <a:avLst/>
          </a:prstGeom>
          <a:noFill/>
          <a:ln/>
        </p:spPr>
        <p:txBody>
          <a:bodyPr wrap="square" rtlCol="0" anchor="ctr"/>
          <a:lstStyle/>
          <a:p>
            <a:pPr marL="0" indent="0" algn="r">
              <a:buNone/>
            </a:pPr>
            <a:r>
              <a:rPr lang="en-US" sz="1100" dirty="0">
                <a:solidFill>
                  <a:srgbClr val="8A9AB8"/>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marL="0" indent="0">
              <a:buNone/>
            </a:pPr>
            <a:r>
              <a:rPr lang="en-US" sz="1300" b="1" kern="0" spc="200" dirty="0">
                <a:solidFill>
                  <a:srgbClr val="60A5FA"/>
                </a:solidFill>
                <a:latin typeface="Arial" pitchFamily="34" charset="0"/>
                <a:ea typeface="Arial" pitchFamily="34" charset="-122"/>
                <a:cs typeface="Arial" pitchFamily="34" charset="-120"/>
              </a:rPr>
              <a:t>PROPOSED SOLUTION</a:t>
            </a:r>
            <a:endParaRPr lang="en-US" sz="1300" dirty="0"/>
          </a:p>
        </p:txBody>
      </p:sp>
      <p:sp>
        <p:nvSpPr>
          <p:cNvPr id="3" name="Text 1"/>
          <p:cNvSpPr/>
          <p:nvPr/>
        </p:nvSpPr>
        <p:spPr>
          <a:xfrm>
            <a:off x="548640" y="713232"/>
            <a:ext cx="11064240" cy="82296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SafeSurge AI — System Overview</a:t>
            </a:r>
            <a:endParaRPr lang="en-US" sz="3000" dirty="0"/>
          </a:p>
        </p:txBody>
      </p:sp>
      <p:sp>
        <p:nvSpPr>
          <p:cNvPr id="4" name="Text 2"/>
          <p:cNvSpPr/>
          <p:nvPr/>
        </p:nvSpPr>
        <p:spPr>
          <a:xfrm>
            <a:off x="548640" y="1737360"/>
            <a:ext cx="11064240" cy="1463040"/>
          </a:xfrm>
          <a:prstGeom prst="rect">
            <a:avLst/>
          </a:prstGeom>
          <a:noFill/>
          <a:ln/>
        </p:spPr>
        <p:txBody>
          <a:bodyPr wrap="square" rtlCol="0" anchor="t"/>
          <a:lstStyle/>
          <a:p>
            <a:pPr marL="0" indent="0">
              <a:lnSpc>
                <a:spcPct val="125000"/>
              </a:lnSpc>
              <a:buNone/>
            </a:pPr>
            <a:r>
              <a:rPr lang="en-US" sz="1350" dirty="0">
                <a:solidFill>
                  <a:srgbClr val="E8EDF5"/>
                </a:solidFill>
                <a:latin typeface="Arial" pitchFamily="34" charset="0"/>
                <a:ea typeface="Arial" pitchFamily="34" charset="-122"/>
                <a:cs typeface="Arial" pitchFamily="34" charset="-120"/>
              </a:rPr>
              <a:t>SafeSurge AI is a six-agent, IBM Granite-powered decision-support platform built on a React + Node.js/Express stack. Its central design principle is data honesty: every value shown in the UI is tagged 🟢 LIVE, 🔵 HISTORICAL, or 🟡 DEMONSTRATION, so operators and judges always know exactly what they're looking at. Live ocean conditions are fetched from INCOIS's Ocean State Forecast service; when unavailable, the system falls back transparently to a real historical replay of Cyclone Biparjoy (June 2023, NOAA IBTrACS data) rather than fabricating live-looking numbers.</a:t>
            </a:r>
            <a:endParaRPr lang="en-US" sz="1350" dirty="0"/>
          </a:p>
        </p:txBody>
      </p:sp>
      <p:sp>
        <p:nvSpPr>
          <p:cNvPr id="5" name="Shape 3"/>
          <p:cNvSpPr/>
          <p:nvPr/>
        </p:nvSpPr>
        <p:spPr>
          <a:xfrm>
            <a:off x="548640" y="3383280"/>
            <a:ext cx="3566160" cy="2651760"/>
          </a:xfrm>
          <a:prstGeom prst="rect">
            <a:avLst/>
          </a:prstGeom>
          <a:solidFill>
            <a:srgbClr val="111827"/>
          </a:solidFill>
          <a:ln w="12700">
            <a:solidFill>
              <a:srgbClr val="2A3548"/>
            </a:solidFill>
            <a:prstDash val="solid"/>
          </a:ln>
        </p:spPr>
      </p:sp>
      <p:sp>
        <p:nvSpPr>
          <p:cNvPr id="6" name="Text 4"/>
          <p:cNvSpPr/>
          <p:nvPr/>
        </p:nvSpPr>
        <p:spPr>
          <a:xfrm>
            <a:off x="777240" y="3547872"/>
            <a:ext cx="3108960" cy="365760"/>
          </a:xfrm>
          <a:prstGeom prst="rect">
            <a:avLst/>
          </a:prstGeom>
          <a:noFill/>
          <a:ln/>
        </p:spPr>
        <p:txBody>
          <a:bodyPr wrap="square" rtlCol="0" anchor="ctr"/>
          <a:lstStyle/>
          <a:p>
            <a:pPr marL="0" indent="0">
              <a:buNone/>
            </a:pPr>
            <a:r>
              <a:rPr lang="en-US" sz="1500" b="1" dirty="0">
                <a:solidFill>
                  <a:srgbClr val="60A5FA"/>
                </a:solidFill>
                <a:latin typeface="Arial" pitchFamily="34" charset="0"/>
                <a:ea typeface="Arial" pitchFamily="34" charset="-122"/>
                <a:cs typeface="Arial" pitchFamily="34" charset="-120"/>
              </a:rPr>
              <a:t>Cyclone Interpretation Agent</a:t>
            </a:r>
            <a:endParaRPr lang="en-US" sz="1500" dirty="0"/>
          </a:p>
        </p:txBody>
      </p:sp>
      <p:sp>
        <p:nvSpPr>
          <p:cNvPr id="7" name="Text 5"/>
          <p:cNvSpPr/>
          <p:nvPr/>
        </p:nvSpPr>
        <p:spPr>
          <a:xfrm>
            <a:off x="777240" y="3977640"/>
            <a:ext cx="3108960" cy="1874520"/>
          </a:xfrm>
          <a:prstGeom prst="rect">
            <a:avLst/>
          </a:prstGeom>
          <a:noFill/>
          <a:ln/>
        </p:spPr>
        <p:txBody>
          <a:bodyPr wrap="square" rtlCol="0" anchor="t"/>
          <a:lstStyle/>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Ingests live/historical ocean data</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Classifies operational risk level</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Never claims to forecast independently</a:t>
            </a:r>
            <a:endParaRPr lang="en-US" sz="1200" dirty="0"/>
          </a:p>
        </p:txBody>
      </p:sp>
      <p:sp>
        <p:nvSpPr>
          <p:cNvPr id="8" name="Shape 6"/>
          <p:cNvSpPr/>
          <p:nvPr/>
        </p:nvSpPr>
        <p:spPr>
          <a:xfrm>
            <a:off x="4297680" y="3383280"/>
            <a:ext cx="3566160" cy="2651760"/>
          </a:xfrm>
          <a:prstGeom prst="rect">
            <a:avLst/>
          </a:prstGeom>
          <a:solidFill>
            <a:srgbClr val="111827"/>
          </a:solidFill>
          <a:ln w="12700">
            <a:solidFill>
              <a:srgbClr val="2A3548"/>
            </a:solidFill>
            <a:prstDash val="solid"/>
          </a:ln>
        </p:spPr>
      </p:sp>
      <p:sp>
        <p:nvSpPr>
          <p:cNvPr id="9" name="Text 7"/>
          <p:cNvSpPr/>
          <p:nvPr/>
        </p:nvSpPr>
        <p:spPr>
          <a:xfrm>
            <a:off x="4526280" y="3547872"/>
            <a:ext cx="3108960" cy="365760"/>
          </a:xfrm>
          <a:prstGeom prst="rect">
            <a:avLst/>
          </a:prstGeom>
          <a:noFill/>
          <a:ln/>
        </p:spPr>
        <p:txBody>
          <a:bodyPr wrap="square" rtlCol="0" anchor="ctr"/>
          <a:lstStyle/>
          <a:p>
            <a:pPr marL="0" indent="0">
              <a:buNone/>
            </a:pPr>
            <a:r>
              <a:rPr lang="en-US" sz="1500" b="1" dirty="0">
                <a:solidFill>
                  <a:srgbClr val="22C55E"/>
                </a:solidFill>
                <a:latin typeface="Arial" pitchFamily="34" charset="0"/>
                <a:ea typeface="Arial" pitchFamily="34" charset="-122"/>
                <a:cs typeface="Arial" pitchFamily="34" charset="-120"/>
              </a:rPr>
              <a:t>Fishermen + Evacuation Agents</a:t>
            </a:r>
            <a:endParaRPr lang="en-US" sz="1500" dirty="0"/>
          </a:p>
        </p:txBody>
      </p:sp>
      <p:sp>
        <p:nvSpPr>
          <p:cNvPr id="10" name="Text 8"/>
          <p:cNvSpPr/>
          <p:nvPr/>
        </p:nvSpPr>
        <p:spPr>
          <a:xfrm>
            <a:off x="4526280" y="3977640"/>
            <a:ext cx="3108960" cy="1874520"/>
          </a:xfrm>
          <a:prstGeom prst="rect">
            <a:avLst/>
          </a:prstGeom>
          <a:noFill/>
          <a:ln/>
        </p:spPr>
        <p:txBody>
          <a:bodyPr wrap="square" rtlCol="0" anchor="t"/>
          <a:lstStyle/>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Run in parallel (independent inputs)</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Trilingual safety alerts (EN/HI/GU)</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Population &amp; shelter-aware prioritization</a:t>
            </a:r>
            <a:endParaRPr lang="en-US" sz="1200" dirty="0"/>
          </a:p>
        </p:txBody>
      </p:sp>
      <p:sp>
        <p:nvSpPr>
          <p:cNvPr id="11" name="Shape 9"/>
          <p:cNvSpPr/>
          <p:nvPr/>
        </p:nvSpPr>
        <p:spPr>
          <a:xfrm>
            <a:off x="8046720" y="3383280"/>
            <a:ext cx="3566160" cy="2651760"/>
          </a:xfrm>
          <a:prstGeom prst="rect">
            <a:avLst/>
          </a:prstGeom>
          <a:solidFill>
            <a:srgbClr val="111827"/>
          </a:solidFill>
          <a:ln w="12700">
            <a:solidFill>
              <a:srgbClr val="2A3548"/>
            </a:solidFill>
            <a:prstDash val="solid"/>
          </a:ln>
        </p:spPr>
      </p:sp>
      <p:sp>
        <p:nvSpPr>
          <p:cNvPr id="12" name="Text 10"/>
          <p:cNvSpPr/>
          <p:nvPr/>
        </p:nvSpPr>
        <p:spPr>
          <a:xfrm>
            <a:off x="8275320" y="3547872"/>
            <a:ext cx="3108960" cy="365760"/>
          </a:xfrm>
          <a:prstGeom prst="rect">
            <a:avLst/>
          </a:prstGeom>
          <a:noFill/>
          <a:ln/>
        </p:spPr>
        <p:txBody>
          <a:bodyPr wrap="square" rtlCol="0" anchor="ctr"/>
          <a:lstStyle/>
          <a:p>
            <a:pPr marL="0" indent="0">
              <a:buNone/>
            </a:pPr>
            <a:r>
              <a:rPr lang="en-US" sz="1500" b="1" dirty="0">
                <a:solidFill>
                  <a:srgbClr val="F97316"/>
                </a:solidFill>
                <a:latin typeface="Arial" pitchFamily="34" charset="0"/>
                <a:ea typeface="Arial" pitchFamily="34" charset="-122"/>
                <a:cs typeface="Arial" pitchFamily="34" charset="-120"/>
              </a:rPr>
              <a:t>Relief + Orchestrator</a:t>
            </a:r>
            <a:endParaRPr lang="en-US" sz="1500" dirty="0"/>
          </a:p>
        </p:txBody>
      </p:sp>
      <p:sp>
        <p:nvSpPr>
          <p:cNvPr id="13" name="Text 11"/>
          <p:cNvSpPr/>
          <p:nvPr/>
        </p:nvSpPr>
        <p:spPr>
          <a:xfrm>
            <a:off x="8275320" y="3977640"/>
            <a:ext cx="3108960" cy="1874520"/>
          </a:xfrm>
          <a:prstGeom prst="rect">
            <a:avLst/>
          </a:prstGeom>
          <a:noFill/>
          <a:ln/>
        </p:spPr>
        <p:txBody>
          <a:bodyPr wrap="square" rtlCol="0" anchor="t"/>
          <a:lstStyle/>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Relief waits on Evacuation's output</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Orchestrator assembles Command Summary</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Damage Assessment runs independently</a:t>
            </a:r>
            <a:endParaRPr lang="en-US" sz="1200" dirty="0"/>
          </a:p>
        </p:txBody>
      </p:sp>
      <p:sp>
        <p:nvSpPr>
          <p:cNvPr id="14" name="Text 12"/>
          <p:cNvSpPr/>
          <p:nvPr/>
        </p:nvSpPr>
        <p:spPr>
          <a:xfrm>
            <a:off x="11521440" y="6446520"/>
            <a:ext cx="548640" cy="320040"/>
          </a:xfrm>
          <a:prstGeom prst="rect">
            <a:avLst/>
          </a:prstGeom>
          <a:noFill/>
          <a:ln/>
        </p:spPr>
        <p:txBody>
          <a:bodyPr wrap="square" rtlCol="0" anchor="ctr"/>
          <a:lstStyle/>
          <a:p>
            <a:pPr marL="0" indent="0" algn="r">
              <a:buNone/>
            </a:pPr>
            <a:r>
              <a:rPr lang="en-US" sz="1100" dirty="0">
                <a:solidFill>
                  <a:srgbClr val="8A9AB8"/>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marL="0" indent="0">
              <a:buNone/>
            </a:pPr>
            <a:r>
              <a:rPr lang="en-US" sz="1300" b="1" kern="0" spc="200" dirty="0">
                <a:solidFill>
                  <a:srgbClr val="60A5FA"/>
                </a:solidFill>
                <a:latin typeface="Arial" pitchFamily="34" charset="0"/>
                <a:ea typeface="Arial" pitchFamily="34" charset="-122"/>
                <a:cs typeface="Arial" pitchFamily="34" charset="-120"/>
              </a:rPr>
              <a:t>TECHNOLOGY STACK</a:t>
            </a:r>
            <a:endParaRPr lang="en-US" sz="1300" dirty="0"/>
          </a:p>
        </p:txBody>
      </p:sp>
      <p:sp>
        <p:nvSpPr>
          <p:cNvPr id="3" name="Text 1"/>
          <p:cNvSpPr/>
          <p:nvPr/>
        </p:nvSpPr>
        <p:spPr>
          <a:xfrm>
            <a:off x="548640" y="713232"/>
            <a:ext cx="11064240" cy="82296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Technology Used</a:t>
            </a:r>
            <a:endParaRPr lang="en-US" sz="3000" dirty="0"/>
          </a:p>
        </p:txBody>
      </p:sp>
      <p:sp>
        <p:nvSpPr>
          <p:cNvPr id="4" name="Shape 2"/>
          <p:cNvSpPr/>
          <p:nvPr/>
        </p:nvSpPr>
        <p:spPr>
          <a:xfrm>
            <a:off x="548640" y="1691640"/>
            <a:ext cx="5349240" cy="868680"/>
          </a:xfrm>
          <a:prstGeom prst="rect">
            <a:avLst/>
          </a:prstGeom>
          <a:solidFill>
            <a:srgbClr val="111827"/>
          </a:solidFill>
          <a:ln w="12700">
            <a:solidFill>
              <a:srgbClr val="2A3548"/>
            </a:solidFill>
            <a:prstDash val="solid"/>
          </a:ln>
        </p:spPr>
      </p:sp>
      <p:sp>
        <p:nvSpPr>
          <p:cNvPr id="5" name="Text 3"/>
          <p:cNvSpPr/>
          <p:nvPr/>
        </p:nvSpPr>
        <p:spPr>
          <a:xfrm>
            <a:off x="731520" y="1783080"/>
            <a:ext cx="4983480" cy="320040"/>
          </a:xfrm>
          <a:prstGeom prst="rect">
            <a:avLst/>
          </a:prstGeom>
          <a:noFill/>
          <a:ln/>
        </p:spPr>
        <p:txBody>
          <a:bodyPr wrap="square" rtlCol="0" anchor="ctr"/>
          <a:lstStyle/>
          <a:p>
            <a:pPr marL="0" indent="0">
              <a:buNone/>
            </a:pPr>
            <a:r>
              <a:rPr lang="en-US" sz="1300" b="1" dirty="0">
                <a:solidFill>
                  <a:srgbClr val="60A5FA"/>
                </a:solidFill>
                <a:latin typeface="Arial" pitchFamily="34" charset="0"/>
                <a:ea typeface="Arial" pitchFamily="34" charset="-122"/>
                <a:cs typeface="Arial" pitchFamily="34" charset="-120"/>
              </a:rPr>
              <a:t>IBM watsonx.ai</a:t>
            </a:r>
            <a:endParaRPr lang="en-US" sz="1300" dirty="0"/>
          </a:p>
        </p:txBody>
      </p:sp>
      <p:sp>
        <p:nvSpPr>
          <p:cNvPr id="6" name="Text 4"/>
          <p:cNvSpPr/>
          <p:nvPr/>
        </p:nvSpPr>
        <p:spPr>
          <a:xfrm>
            <a:off x="731520" y="2103120"/>
            <a:ext cx="4983480" cy="411480"/>
          </a:xfrm>
          <a:prstGeom prst="rect">
            <a:avLst/>
          </a:prstGeom>
          <a:noFill/>
          <a:ln/>
        </p:spPr>
        <p:txBody>
          <a:bodyPr wrap="square" rtlCol="0" anchor="t"/>
          <a:lstStyle/>
          <a:p>
            <a:pPr marL="0" indent="0">
              <a:buNone/>
            </a:pPr>
            <a:r>
              <a:rPr lang="en-US" sz="1050" dirty="0">
                <a:solidFill>
                  <a:srgbClr val="8A9AB8"/>
                </a:solidFill>
                <a:latin typeface="Arial" pitchFamily="34" charset="0"/>
                <a:ea typeface="Arial" pitchFamily="34" charset="-122"/>
                <a:cs typeface="Arial" pitchFamily="34" charset="-120"/>
              </a:rPr>
              <a:t>Model hosting, deployment, and inference for all agent reasoning calls</a:t>
            </a:r>
            <a:endParaRPr lang="en-US" sz="1050" dirty="0"/>
          </a:p>
        </p:txBody>
      </p:sp>
      <p:sp>
        <p:nvSpPr>
          <p:cNvPr id="7" name="Shape 5"/>
          <p:cNvSpPr/>
          <p:nvPr/>
        </p:nvSpPr>
        <p:spPr>
          <a:xfrm>
            <a:off x="6263640" y="1691640"/>
            <a:ext cx="5349240" cy="868680"/>
          </a:xfrm>
          <a:prstGeom prst="rect">
            <a:avLst/>
          </a:prstGeom>
          <a:solidFill>
            <a:srgbClr val="111827"/>
          </a:solidFill>
          <a:ln w="12700">
            <a:solidFill>
              <a:srgbClr val="2A3548"/>
            </a:solidFill>
            <a:prstDash val="solid"/>
          </a:ln>
        </p:spPr>
      </p:sp>
      <p:sp>
        <p:nvSpPr>
          <p:cNvPr id="8" name="Text 6"/>
          <p:cNvSpPr/>
          <p:nvPr/>
        </p:nvSpPr>
        <p:spPr>
          <a:xfrm>
            <a:off x="6446520" y="1783080"/>
            <a:ext cx="4983480" cy="320040"/>
          </a:xfrm>
          <a:prstGeom prst="rect">
            <a:avLst/>
          </a:prstGeom>
          <a:noFill/>
          <a:ln/>
        </p:spPr>
        <p:txBody>
          <a:bodyPr wrap="square" rtlCol="0" anchor="ctr"/>
          <a:lstStyle/>
          <a:p>
            <a:pPr marL="0" indent="0">
              <a:buNone/>
            </a:pPr>
            <a:r>
              <a:rPr lang="en-US" sz="1300" b="1" dirty="0">
                <a:solidFill>
                  <a:srgbClr val="60A5FA"/>
                </a:solidFill>
                <a:latin typeface="Arial" pitchFamily="34" charset="0"/>
                <a:ea typeface="Arial" pitchFamily="34" charset="-122"/>
                <a:cs typeface="Arial" pitchFamily="34" charset="-120"/>
              </a:rPr>
              <a:t>IBM Granite (granite-4-h-small)</a:t>
            </a:r>
            <a:endParaRPr lang="en-US" sz="1300" dirty="0"/>
          </a:p>
        </p:txBody>
      </p:sp>
      <p:sp>
        <p:nvSpPr>
          <p:cNvPr id="9" name="Text 7"/>
          <p:cNvSpPr/>
          <p:nvPr/>
        </p:nvSpPr>
        <p:spPr>
          <a:xfrm>
            <a:off x="6446520" y="2103120"/>
            <a:ext cx="4983480" cy="411480"/>
          </a:xfrm>
          <a:prstGeom prst="rect">
            <a:avLst/>
          </a:prstGeom>
          <a:noFill/>
          <a:ln/>
        </p:spPr>
        <p:txBody>
          <a:bodyPr wrap="square" rtlCol="0" anchor="t"/>
          <a:lstStyle/>
          <a:p>
            <a:pPr marL="0" indent="0">
              <a:buNone/>
            </a:pPr>
            <a:r>
              <a:rPr lang="en-US" sz="1050" dirty="0">
                <a:solidFill>
                  <a:srgbClr val="8A9AB8"/>
                </a:solidFill>
                <a:latin typeface="Arial" pitchFamily="34" charset="0"/>
                <a:ea typeface="Arial" pitchFamily="34" charset="-122"/>
                <a:cs typeface="Arial" pitchFamily="34" charset="-120"/>
              </a:rPr>
              <a:t>Chat-completions model powering risk interpretation, alerts, planning, and summarization — selected via runtime model discovery, not hardcoded</a:t>
            </a:r>
            <a:endParaRPr lang="en-US" sz="1050" dirty="0"/>
          </a:p>
        </p:txBody>
      </p:sp>
      <p:sp>
        <p:nvSpPr>
          <p:cNvPr id="10" name="Shape 8"/>
          <p:cNvSpPr/>
          <p:nvPr/>
        </p:nvSpPr>
        <p:spPr>
          <a:xfrm>
            <a:off x="548640" y="2670048"/>
            <a:ext cx="5349240" cy="868680"/>
          </a:xfrm>
          <a:prstGeom prst="rect">
            <a:avLst/>
          </a:prstGeom>
          <a:solidFill>
            <a:srgbClr val="111827"/>
          </a:solidFill>
          <a:ln w="12700">
            <a:solidFill>
              <a:srgbClr val="2A3548"/>
            </a:solidFill>
            <a:prstDash val="solid"/>
          </a:ln>
        </p:spPr>
      </p:sp>
      <p:sp>
        <p:nvSpPr>
          <p:cNvPr id="11" name="Text 9"/>
          <p:cNvSpPr/>
          <p:nvPr/>
        </p:nvSpPr>
        <p:spPr>
          <a:xfrm>
            <a:off x="731520" y="2761488"/>
            <a:ext cx="4983480" cy="320040"/>
          </a:xfrm>
          <a:prstGeom prst="rect">
            <a:avLst/>
          </a:prstGeom>
          <a:noFill/>
          <a:ln/>
        </p:spPr>
        <p:txBody>
          <a:bodyPr wrap="square" rtlCol="0" anchor="ctr"/>
          <a:lstStyle/>
          <a:p>
            <a:pPr marL="0" indent="0">
              <a:buNone/>
            </a:pPr>
            <a:r>
              <a:rPr lang="en-US" sz="1300" b="1" dirty="0">
                <a:solidFill>
                  <a:srgbClr val="60A5FA"/>
                </a:solidFill>
                <a:latin typeface="Arial" pitchFamily="34" charset="0"/>
                <a:ea typeface="Arial" pitchFamily="34" charset="-122"/>
                <a:cs typeface="Arial" pitchFamily="34" charset="-120"/>
              </a:rPr>
              <a:t>IBM Bob</a:t>
            </a:r>
            <a:endParaRPr lang="en-US" sz="1300" dirty="0"/>
          </a:p>
        </p:txBody>
      </p:sp>
      <p:sp>
        <p:nvSpPr>
          <p:cNvPr id="12" name="Text 10"/>
          <p:cNvSpPr/>
          <p:nvPr/>
        </p:nvSpPr>
        <p:spPr>
          <a:xfrm>
            <a:off x="731520" y="3081528"/>
            <a:ext cx="4983480" cy="411480"/>
          </a:xfrm>
          <a:prstGeom prst="rect">
            <a:avLst/>
          </a:prstGeom>
          <a:noFill/>
          <a:ln/>
        </p:spPr>
        <p:txBody>
          <a:bodyPr wrap="square" rtlCol="0" anchor="t"/>
          <a:lstStyle/>
          <a:p>
            <a:pPr marL="0" indent="0">
              <a:buNone/>
            </a:pPr>
            <a:r>
              <a:rPr lang="en-US" sz="1050" dirty="0">
                <a:solidFill>
                  <a:srgbClr val="8A9AB8"/>
                </a:solidFill>
                <a:latin typeface="Arial" pitchFamily="34" charset="0"/>
                <a:ea typeface="Arial" pitchFamily="34" charset="-122"/>
                <a:cs typeface="Arial" pitchFamily="34" charset="-120"/>
              </a:rPr>
              <a:t>Autonomous agentic build tool used to implement the full-stack application end-to-end from a single detailed specification</a:t>
            </a:r>
            <a:endParaRPr lang="en-US" sz="1050" dirty="0"/>
          </a:p>
        </p:txBody>
      </p:sp>
      <p:sp>
        <p:nvSpPr>
          <p:cNvPr id="13" name="Shape 11"/>
          <p:cNvSpPr/>
          <p:nvPr/>
        </p:nvSpPr>
        <p:spPr>
          <a:xfrm>
            <a:off x="6263640" y="2670048"/>
            <a:ext cx="5349240" cy="868680"/>
          </a:xfrm>
          <a:prstGeom prst="rect">
            <a:avLst/>
          </a:prstGeom>
          <a:solidFill>
            <a:srgbClr val="111827"/>
          </a:solidFill>
          <a:ln w="12700">
            <a:solidFill>
              <a:srgbClr val="2A3548"/>
            </a:solidFill>
            <a:prstDash val="solid"/>
          </a:ln>
        </p:spPr>
      </p:sp>
      <p:sp>
        <p:nvSpPr>
          <p:cNvPr id="14" name="Text 12"/>
          <p:cNvSpPr/>
          <p:nvPr/>
        </p:nvSpPr>
        <p:spPr>
          <a:xfrm>
            <a:off x="6446520" y="2761488"/>
            <a:ext cx="4983480" cy="320040"/>
          </a:xfrm>
          <a:prstGeom prst="rect">
            <a:avLst/>
          </a:prstGeom>
          <a:noFill/>
          <a:ln/>
        </p:spPr>
        <p:txBody>
          <a:bodyPr wrap="square" rtlCol="0" anchor="ctr"/>
          <a:lstStyle/>
          <a:p>
            <a:pPr marL="0" indent="0">
              <a:buNone/>
            </a:pPr>
            <a:r>
              <a:rPr lang="en-US" sz="1300" b="1" dirty="0">
                <a:solidFill>
                  <a:srgbClr val="60A5FA"/>
                </a:solidFill>
                <a:latin typeface="Arial" pitchFamily="34" charset="0"/>
                <a:ea typeface="Arial" pitchFamily="34" charset="-122"/>
                <a:cs typeface="Arial" pitchFamily="34" charset="-120"/>
              </a:rPr>
              <a:t>React + Vite</a:t>
            </a:r>
            <a:endParaRPr lang="en-US" sz="1300" dirty="0"/>
          </a:p>
        </p:txBody>
      </p:sp>
      <p:sp>
        <p:nvSpPr>
          <p:cNvPr id="15" name="Text 13"/>
          <p:cNvSpPr/>
          <p:nvPr/>
        </p:nvSpPr>
        <p:spPr>
          <a:xfrm>
            <a:off x="6446520" y="3081528"/>
            <a:ext cx="4983480" cy="411480"/>
          </a:xfrm>
          <a:prstGeom prst="rect">
            <a:avLst/>
          </a:prstGeom>
          <a:noFill/>
          <a:ln/>
        </p:spPr>
        <p:txBody>
          <a:bodyPr wrap="square" rtlCol="0" anchor="t"/>
          <a:lstStyle/>
          <a:p>
            <a:pPr marL="0" indent="0">
              <a:buNone/>
            </a:pPr>
            <a:r>
              <a:rPr lang="en-US" sz="1050" dirty="0">
                <a:solidFill>
                  <a:srgbClr val="8A9AB8"/>
                </a:solidFill>
                <a:latin typeface="Arial" pitchFamily="34" charset="0"/>
                <a:ea typeface="Arial" pitchFamily="34" charset="-122"/>
                <a:cs typeface="Arial" pitchFamily="34" charset="-120"/>
              </a:rPr>
              <a:t>Frontend command-center dashboard</a:t>
            </a:r>
            <a:endParaRPr lang="en-US" sz="1050" dirty="0"/>
          </a:p>
        </p:txBody>
      </p:sp>
      <p:sp>
        <p:nvSpPr>
          <p:cNvPr id="16" name="Shape 14"/>
          <p:cNvSpPr/>
          <p:nvPr/>
        </p:nvSpPr>
        <p:spPr>
          <a:xfrm>
            <a:off x="548640" y="3648456"/>
            <a:ext cx="5349240" cy="868680"/>
          </a:xfrm>
          <a:prstGeom prst="rect">
            <a:avLst/>
          </a:prstGeom>
          <a:solidFill>
            <a:srgbClr val="111827"/>
          </a:solidFill>
          <a:ln w="12700">
            <a:solidFill>
              <a:srgbClr val="2A3548"/>
            </a:solidFill>
            <a:prstDash val="solid"/>
          </a:ln>
        </p:spPr>
      </p:sp>
      <p:sp>
        <p:nvSpPr>
          <p:cNvPr id="17" name="Text 15"/>
          <p:cNvSpPr/>
          <p:nvPr/>
        </p:nvSpPr>
        <p:spPr>
          <a:xfrm>
            <a:off x="731520" y="3739896"/>
            <a:ext cx="4983480" cy="320040"/>
          </a:xfrm>
          <a:prstGeom prst="rect">
            <a:avLst/>
          </a:prstGeom>
          <a:noFill/>
          <a:ln/>
        </p:spPr>
        <p:txBody>
          <a:bodyPr wrap="square" rtlCol="0" anchor="ctr"/>
          <a:lstStyle/>
          <a:p>
            <a:pPr marL="0" indent="0">
              <a:buNone/>
            </a:pPr>
            <a:r>
              <a:rPr lang="en-US" sz="1300" b="1" dirty="0">
                <a:solidFill>
                  <a:srgbClr val="60A5FA"/>
                </a:solidFill>
                <a:latin typeface="Arial" pitchFamily="34" charset="0"/>
                <a:ea typeface="Arial" pitchFamily="34" charset="-122"/>
                <a:cs typeface="Arial" pitchFamily="34" charset="-120"/>
              </a:rPr>
              <a:t>Node.js + Express</a:t>
            </a:r>
            <a:endParaRPr lang="en-US" sz="1300" dirty="0"/>
          </a:p>
        </p:txBody>
      </p:sp>
      <p:sp>
        <p:nvSpPr>
          <p:cNvPr id="18" name="Text 16"/>
          <p:cNvSpPr/>
          <p:nvPr/>
        </p:nvSpPr>
        <p:spPr>
          <a:xfrm>
            <a:off x="731520" y="4059936"/>
            <a:ext cx="4983480" cy="411480"/>
          </a:xfrm>
          <a:prstGeom prst="rect">
            <a:avLst/>
          </a:prstGeom>
          <a:noFill/>
          <a:ln/>
        </p:spPr>
        <p:txBody>
          <a:bodyPr wrap="square" rtlCol="0" anchor="t"/>
          <a:lstStyle/>
          <a:p>
            <a:pPr marL="0" indent="0">
              <a:buNone/>
            </a:pPr>
            <a:r>
              <a:rPr lang="en-US" sz="1050" dirty="0">
                <a:solidFill>
                  <a:srgbClr val="8A9AB8"/>
                </a:solidFill>
                <a:latin typeface="Arial" pitchFamily="34" charset="0"/>
                <a:ea typeface="Arial" pitchFamily="34" charset="-122"/>
                <a:cs typeface="Arial" pitchFamily="34" charset="-120"/>
              </a:rPr>
              <a:t>Backend API, agent orchestration, and data fusion layer</a:t>
            </a:r>
            <a:endParaRPr lang="en-US" sz="1050" dirty="0"/>
          </a:p>
        </p:txBody>
      </p:sp>
      <p:sp>
        <p:nvSpPr>
          <p:cNvPr id="19" name="Shape 17"/>
          <p:cNvSpPr/>
          <p:nvPr/>
        </p:nvSpPr>
        <p:spPr>
          <a:xfrm>
            <a:off x="6263640" y="3648456"/>
            <a:ext cx="5349240" cy="868680"/>
          </a:xfrm>
          <a:prstGeom prst="rect">
            <a:avLst/>
          </a:prstGeom>
          <a:solidFill>
            <a:srgbClr val="111827"/>
          </a:solidFill>
          <a:ln w="12700">
            <a:solidFill>
              <a:srgbClr val="2A3548"/>
            </a:solidFill>
            <a:prstDash val="solid"/>
          </a:ln>
        </p:spPr>
      </p:sp>
      <p:sp>
        <p:nvSpPr>
          <p:cNvPr id="20" name="Text 18"/>
          <p:cNvSpPr/>
          <p:nvPr/>
        </p:nvSpPr>
        <p:spPr>
          <a:xfrm>
            <a:off x="6446520" y="3739896"/>
            <a:ext cx="4983480" cy="320040"/>
          </a:xfrm>
          <a:prstGeom prst="rect">
            <a:avLst/>
          </a:prstGeom>
          <a:noFill/>
          <a:ln/>
        </p:spPr>
        <p:txBody>
          <a:bodyPr wrap="square" rtlCol="0" anchor="ctr"/>
          <a:lstStyle/>
          <a:p>
            <a:pPr marL="0" indent="0">
              <a:buNone/>
            </a:pPr>
            <a:r>
              <a:rPr lang="en-US" sz="1300" b="1" dirty="0">
                <a:solidFill>
                  <a:srgbClr val="60A5FA"/>
                </a:solidFill>
                <a:latin typeface="Arial" pitchFamily="34" charset="0"/>
                <a:ea typeface="Arial" pitchFamily="34" charset="-122"/>
                <a:cs typeface="Arial" pitchFamily="34" charset="-120"/>
              </a:rPr>
              <a:t>SQLite (sql.js — WebAssembly)</a:t>
            </a:r>
            <a:endParaRPr lang="en-US" sz="1300" dirty="0"/>
          </a:p>
        </p:txBody>
      </p:sp>
      <p:sp>
        <p:nvSpPr>
          <p:cNvPr id="21" name="Text 19"/>
          <p:cNvSpPr/>
          <p:nvPr/>
        </p:nvSpPr>
        <p:spPr>
          <a:xfrm>
            <a:off x="6446520" y="4059936"/>
            <a:ext cx="4983480" cy="411480"/>
          </a:xfrm>
          <a:prstGeom prst="rect">
            <a:avLst/>
          </a:prstGeom>
          <a:noFill/>
          <a:ln/>
        </p:spPr>
        <p:txBody>
          <a:bodyPr wrap="square" rtlCol="0" anchor="t"/>
          <a:lstStyle/>
          <a:p>
            <a:pPr marL="0" indent="0">
              <a:buNone/>
            </a:pPr>
            <a:r>
              <a:rPr lang="en-US" sz="1050" dirty="0">
                <a:solidFill>
                  <a:srgbClr val="8A9AB8"/>
                </a:solidFill>
                <a:latin typeface="Arial" pitchFamily="34" charset="0"/>
                <a:ea typeface="Arial" pitchFamily="34" charset="-122"/>
                <a:cs typeface="Arial" pitchFamily="34" charset="-120"/>
              </a:rPr>
              <a:t>Zero native compilation required on Windows; in-memory DB persisted to disk every 10s</a:t>
            </a:r>
            <a:endParaRPr lang="en-US" sz="1050" dirty="0"/>
          </a:p>
        </p:txBody>
      </p:sp>
      <p:sp>
        <p:nvSpPr>
          <p:cNvPr id="22" name="Shape 20"/>
          <p:cNvSpPr/>
          <p:nvPr/>
        </p:nvSpPr>
        <p:spPr>
          <a:xfrm>
            <a:off x="548640" y="4626864"/>
            <a:ext cx="5349240" cy="868680"/>
          </a:xfrm>
          <a:prstGeom prst="rect">
            <a:avLst/>
          </a:prstGeom>
          <a:solidFill>
            <a:srgbClr val="111827"/>
          </a:solidFill>
          <a:ln w="12700">
            <a:solidFill>
              <a:srgbClr val="2A3548"/>
            </a:solidFill>
            <a:prstDash val="solid"/>
          </a:ln>
        </p:spPr>
      </p:sp>
      <p:sp>
        <p:nvSpPr>
          <p:cNvPr id="23" name="Text 21"/>
          <p:cNvSpPr/>
          <p:nvPr/>
        </p:nvSpPr>
        <p:spPr>
          <a:xfrm>
            <a:off x="731520" y="4718304"/>
            <a:ext cx="4983480" cy="320040"/>
          </a:xfrm>
          <a:prstGeom prst="rect">
            <a:avLst/>
          </a:prstGeom>
          <a:noFill/>
          <a:ln/>
        </p:spPr>
        <p:txBody>
          <a:bodyPr wrap="square" rtlCol="0" anchor="ctr"/>
          <a:lstStyle/>
          <a:p>
            <a:pPr marL="0" indent="0">
              <a:buNone/>
            </a:pPr>
            <a:r>
              <a:rPr lang="en-US" sz="1300" b="1" dirty="0">
                <a:solidFill>
                  <a:srgbClr val="60A5FA"/>
                </a:solidFill>
                <a:latin typeface="Arial" pitchFamily="34" charset="0"/>
                <a:ea typeface="Arial" pitchFamily="34" charset="-122"/>
                <a:cs typeface="Arial" pitchFamily="34" charset="-120"/>
              </a:rPr>
              <a:t>Leaflet + OpenStreetMap</a:t>
            </a:r>
            <a:endParaRPr lang="en-US" sz="1300" dirty="0"/>
          </a:p>
        </p:txBody>
      </p:sp>
      <p:sp>
        <p:nvSpPr>
          <p:cNvPr id="24" name="Text 22"/>
          <p:cNvSpPr/>
          <p:nvPr/>
        </p:nvSpPr>
        <p:spPr>
          <a:xfrm>
            <a:off x="731520" y="5038344"/>
            <a:ext cx="4983480" cy="411480"/>
          </a:xfrm>
          <a:prstGeom prst="rect">
            <a:avLst/>
          </a:prstGeom>
          <a:noFill/>
          <a:ln/>
        </p:spPr>
        <p:txBody>
          <a:bodyPr wrap="square" rtlCol="0" anchor="t"/>
          <a:lstStyle/>
          <a:p>
            <a:pPr marL="0" indent="0">
              <a:buNone/>
            </a:pPr>
            <a:r>
              <a:rPr lang="en-US" sz="1050" dirty="0">
                <a:solidFill>
                  <a:srgbClr val="8A9AB8"/>
                </a:solidFill>
                <a:latin typeface="Arial" pitchFamily="34" charset="0"/>
                <a:ea typeface="Arial" pitchFamily="34" charset="-122"/>
                <a:cs typeface="Arial" pitchFamily="34" charset="-120"/>
              </a:rPr>
              <a:t>Gujarat coastline map, no paid API key required</a:t>
            </a:r>
            <a:endParaRPr lang="en-US" sz="1050" dirty="0"/>
          </a:p>
        </p:txBody>
      </p:sp>
      <p:sp>
        <p:nvSpPr>
          <p:cNvPr id="25" name="Shape 23"/>
          <p:cNvSpPr/>
          <p:nvPr/>
        </p:nvSpPr>
        <p:spPr>
          <a:xfrm>
            <a:off x="6263640" y="4626864"/>
            <a:ext cx="5349240" cy="868680"/>
          </a:xfrm>
          <a:prstGeom prst="rect">
            <a:avLst/>
          </a:prstGeom>
          <a:solidFill>
            <a:srgbClr val="111827"/>
          </a:solidFill>
          <a:ln w="12700">
            <a:solidFill>
              <a:srgbClr val="2A3548"/>
            </a:solidFill>
            <a:prstDash val="solid"/>
          </a:ln>
        </p:spPr>
      </p:sp>
      <p:sp>
        <p:nvSpPr>
          <p:cNvPr id="26" name="Text 24"/>
          <p:cNvSpPr/>
          <p:nvPr/>
        </p:nvSpPr>
        <p:spPr>
          <a:xfrm>
            <a:off x="6446520" y="4718304"/>
            <a:ext cx="4983480" cy="320040"/>
          </a:xfrm>
          <a:prstGeom prst="rect">
            <a:avLst/>
          </a:prstGeom>
          <a:noFill/>
          <a:ln/>
        </p:spPr>
        <p:txBody>
          <a:bodyPr wrap="square" rtlCol="0" anchor="ctr"/>
          <a:lstStyle/>
          <a:p>
            <a:pPr marL="0" indent="0">
              <a:buNone/>
            </a:pPr>
            <a:r>
              <a:rPr lang="en-US" sz="1300" b="1" dirty="0">
                <a:solidFill>
                  <a:srgbClr val="60A5FA"/>
                </a:solidFill>
                <a:latin typeface="Arial" pitchFamily="34" charset="0"/>
                <a:ea typeface="Arial" pitchFamily="34" charset="-122"/>
                <a:cs typeface="Arial" pitchFamily="34" charset="-120"/>
              </a:rPr>
              <a:t>INCOIS Ocean State Forecast</a:t>
            </a:r>
            <a:endParaRPr lang="en-US" sz="1300" dirty="0"/>
          </a:p>
        </p:txBody>
      </p:sp>
      <p:sp>
        <p:nvSpPr>
          <p:cNvPr id="27" name="Text 25"/>
          <p:cNvSpPr/>
          <p:nvPr/>
        </p:nvSpPr>
        <p:spPr>
          <a:xfrm>
            <a:off x="6446520" y="5038344"/>
            <a:ext cx="4983480" cy="411480"/>
          </a:xfrm>
          <a:prstGeom prst="rect">
            <a:avLst/>
          </a:prstGeom>
          <a:noFill/>
          <a:ln/>
        </p:spPr>
        <p:txBody>
          <a:bodyPr wrap="square" rtlCol="0" anchor="t"/>
          <a:lstStyle/>
          <a:p>
            <a:pPr marL="0" indent="0">
              <a:buNone/>
            </a:pPr>
            <a:r>
              <a:rPr lang="en-US" sz="1050" dirty="0">
                <a:solidFill>
                  <a:srgbClr val="8A9AB8"/>
                </a:solidFill>
                <a:latin typeface="Arial" pitchFamily="34" charset="0"/>
                <a:ea typeface="Arial" pitchFamily="34" charset="-122"/>
                <a:cs typeface="Arial" pitchFamily="34" charset="-120"/>
              </a:rPr>
              <a:t>Live wind, wave, and sea-surface data via WMS GetFeatureInfo</a:t>
            </a:r>
            <a:endParaRPr lang="en-US" sz="1050" dirty="0"/>
          </a:p>
        </p:txBody>
      </p:sp>
      <p:sp>
        <p:nvSpPr>
          <p:cNvPr id="28" name="Shape 26"/>
          <p:cNvSpPr/>
          <p:nvPr/>
        </p:nvSpPr>
        <p:spPr>
          <a:xfrm>
            <a:off x="548640" y="5605272"/>
            <a:ext cx="5349240" cy="868680"/>
          </a:xfrm>
          <a:prstGeom prst="rect">
            <a:avLst/>
          </a:prstGeom>
          <a:solidFill>
            <a:srgbClr val="111827"/>
          </a:solidFill>
          <a:ln w="12700">
            <a:solidFill>
              <a:srgbClr val="2A3548"/>
            </a:solidFill>
            <a:prstDash val="solid"/>
          </a:ln>
        </p:spPr>
      </p:sp>
      <p:sp>
        <p:nvSpPr>
          <p:cNvPr id="29" name="Text 27"/>
          <p:cNvSpPr/>
          <p:nvPr/>
        </p:nvSpPr>
        <p:spPr>
          <a:xfrm>
            <a:off x="731520" y="5696712"/>
            <a:ext cx="4983480" cy="320040"/>
          </a:xfrm>
          <a:prstGeom prst="rect">
            <a:avLst/>
          </a:prstGeom>
          <a:noFill/>
          <a:ln/>
        </p:spPr>
        <p:txBody>
          <a:bodyPr wrap="square" rtlCol="0" anchor="ctr"/>
          <a:lstStyle/>
          <a:p>
            <a:pPr marL="0" indent="0">
              <a:buNone/>
            </a:pPr>
            <a:r>
              <a:rPr lang="en-US" sz="1300" b="1" dirty="0">
                <a:solidFill>
                  <a:srgbClr val="60A5FA"/>
                </a:solidFill>
                <a:latin typeface="Arial" pitchFamily="34" charset="0"/>
                <a:ea typeface="Arial" pitchFamily="34" charset="-122"/>
                <a:cs typeface="Arial" pitchFamily="34" charset="-120"/>
              </a:rPr>
              <a:t>NOAA IBTrACS</a:t>
            </a:r>
            <a:endParaRPr lang="en-US" sz="1300" dirty="0"/>
          </a:p>
        </p:txBody>
      </p:sp>
      <p:sp>
        <p:nvSpPr>
          <p:cNvPr id="30" name="Text 28"/>
          <p:cNvSpPr/>
          <p:nvPr/>
        </p:nvSpPr>
        <p:spPr>
          <a:xfrm>
            <a:off x="731520" y="6016752"/>
            <a:ext cx="4983480" cy="411480"/>
          </a:xfrm>
          <a:prstGeom prst="rect">
            <a:avLst/>
          </a:prstGeom>
          <a:noFill/>
          <a:ln/>
        </p:spPr>
        <p:txBody>
          <a:bodyPr wrap="square" rtlCol="0" anchor="t"/>
          <a:lstStyle/>
          <a:p>
            <a:pPr marL="0" indent="0">
              <a:buNone/>
            </a:pPr>
            <a:r>
              <a:rPr lang="en-US" sz="1050" dirty="0">
                <a:solidFill>
                  <a:srgbClr val="8A9AB8"/>
                </a:solidFill>
                <a:latin typeface="Arial" pitchFamily="34" charset="0"/>
                <a:ea typeface="Arial" pitchFamily="34" charset="-122"/>
                <a:cs typeface="Arial" pitchFamily="34" charset="-120"/>
              </a:rPr>
              <a:t>Real historical Cyclone Biparjoy (2023) track data for guaranteed offline replay</a:t>
            </a:r>
            <a:endParaRPr lang="en-US" sz="1050" dirty="0"/>
          </a:p>
        </p:txBody>
      </p:sp>
      <p:sp>
        <p:nvSpPr>
          <p:cNvPr id="31" name="Text 29"/>
          <p:cNvSpPr/>
          <p:nvPr/>
        </p:nvSpPr>
        <p:spPr>
          <a:xfrm>
            <a:off x="11521440" y="6446520"/>
            <a:ext cx="548640" cy="320040"/>
          </a:xfrm>
          <a:prstGeom prst="rect">
            <a:avLst/>
          </a:prstGeom>
          <a:noFill/>
          <a:ln/>
        </p:spPr>
        <p:txBody>
          <a:bodyPr wrap="square" rtlCol="0" anchor="ctr"/>
          <a:lstStyle/>
          <a:p>
            <a:pPr marL="0" indent="0" algn="r">
              <a:buNone/>
            </a:pPr>
            <a:r>
              <a:rPr lang="en-US" sz="1100" dirty="0">
                <a:solidFill>
                  <a:srgbClr val="8A9AB8"/>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marL="0" indent="0">
              <a:buNone/>
            </a:pPr>
            <a:r>
              <a:rPr lang="en-US" sz="1300" b="1" kern="0" spc="200" dirty="0">
                <a:solidFill>
                  <a:srgbClr val="60A5FA"/>
                </a:solidFill>
                <a:latin typeface="Arial" pitchFamily="34" charset="0"/>
                <a:ea typeface="Arial" pitchFamily="34" charset="-122"/>
                <a:cs typeface="Arial" pitchFamily="34" charset="-120"/>
              </a:rPr>
              <a:t>SYSTEM COMPONENTS</a:t>
            </a:r>
            <a:endParaRPr lang="en-US" sz="1300" dirty="0"/>
          </a:p>
        </p:txBody>
      </p:sp>
      <p:sp>
        <p:nvSpPr>
          <p:cNvPr id="3" name="Text 1"/>
          <p:cNvSpPr/>
          <p:nvPr/>
        </p:nvSpPr>
        <p:spPr>
          <a:xfrm>
            <a:off x="548640" y="713232"/>
            <a:ext cx="11064240" cy="82296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Core Application Components</a:t>
            </a:r>
            <a:endParaRPr lang="en-US" sz="3000" dirty="0"/>
          </a:p>
        </p:txBody>
      </p:sp>
      <p:sp>
        <p:nvSpPr>
          <p:cNvPr id="4" name="Shape 2"/>
          <p:cNvSpPr/>
          <p:nvPr/>
        </p:nvSpPr>
        <p:spPr>
          <a:xfrm>
            <a:off x="548640" y="1737360"/>
            <a:ext cx="5349240" cy="4297680"/>
          </a:xfrm>
          <a:prstGeom prst="rect">
            <a:avLst/>
          </a:prstGeom>
          <a:solidFill>
            <a:srgbClr val="111827"/>
          </a:solidFill>
          <a:ln w="12700">
            <a:solidFill>
              <a:srgbClr val="2A3548"/>
            </a:solidFill>
            <a:prstDash val="solid"/>
          </a:ln>
        </p:spPr>
      </p:sp>
      <p:sp>
        <p:nvSpPr>
          <p:cNvPr id="5" name="Text 3"/>
          <p:cNvSpPr/>
          <p:nvPr/>
        </p:nvSpPr>
        <p:spPr>
          <a:xfrm>
            <a:off x="777240" y="1901952"/>
            <a:ext cx="4892040" cy="365760"/>
          </a:xfrm>
          <a:prstGeom prst="rect">
            <a:avLst/>
          </a:prstGeom>
          <a:noFill/>
          <a:ln/>
        </p:spPr>
        <p:txBody>
          <a:bodyPr wrap="square" rtlCol="0" anchor="ctr"/>
          <a:lstStyle/>
          <a:p>
            <a:pPr marL="0" indent="0">
              <a:buNone/>
            </a:pPr>
            <a:r>
              <a:rPr lang="en-US" sz="1500" b="1" dirty="0">
                <a:solidFill>
                  <a:srgbClr val="60A5FA"/>
                </a:solidFill>
                <a:latin typeface="Arial" pitchFamily="34" charset="0"/>
                <a:ea typeface="Arial" pitchFamily="34" charset="-122"/>
                <a:cs typeface="Arial" pitchFamily="34" charset="-120"/>
              </a:rPr>
              <a:t>Backend Components</a:t>
            </a:r>
            <a:endParaRPr lang="en-US" sz="1500" dirty="0"/>
          </a:p>
        </p:txBody>
      </p:sp>
      <p:sp>
        <p:nvSpPr>
          <p:cNvPr id="6" name="Text 4"/>
          <p:cNvSpPr/>
          <p:nvPr/>
        </p:nvSpPr>
        <p:spPr>
          <a:xfrm>
            <a:off x="777240" y="2331720"/>
            <a:ext cx="4892040" cy="3520440"/>
          </a:xfrm>
          <a:prstGeom prst="rect">
            <a:avLst/>
          </a:prstGeom>
          <a:noFill/>
          <a:ln/>
        </p:spPr>
        <p:txBody>
          <a:bodyPr wrap="square" rtlCol="0" anchor="t"/>
          <a:lstStyle/>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graniteClient.js — single centralized watsonx.ai client; runtime model discovery, IAM token caching, sanitized logging, malformed-JSON retry with deterministic fallback</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dataFusionEngine.js — live INCOIS attempt → historical Biparjoy fallback, honest provenance tagging on every field</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incoisAdapter.js — real WMS GetFeatureInfo calls to INCOIS's Ocean State Forecast service</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commandOrchestrator.js — sequences the 5-agent operational chain with correct data dependencies</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5 individual agent modules — Cyclone Interpretation, Fishermen Alert, Evacuation, Relief Coordination, Damage Assessment</a:t>
            </a:r>
            <a:endParaRPr lang="en-US" sz="1200" dirty="0"/>
          </a:p>
        </p:txBody>
      </p:sp>
      <p:sp>
        <p:nvSpPr>
          <p:cNvPr id="7" name="Shape 5"/>
          <p:cNvSpPr/>
          <p:nvPr/>
        </p:nvSpPr>
        <p:spPr>
          <a:xfrm>
            <a:off x="6080760" y="1737360"/>
            <a:ext cx="5532120" cy="4297680"/>
          </a:xfrm>
          <a:prstGeom prst="rect">
            <a:avLst/>
          </a:prstGeom>
          <a:solidFill>
            <a:srgbClr val="111827"/>
          </a:solidFill>
          <a:ln w="12700">
            <a:solidFill>
              <a:srgbClr val="2A3548"/>
            </a:solidFill>
            <a:prstDash val="solid"/>
          </a:ln>
        </p:spPr>
      </p:sp>
      <p:sp>
        <p:nvSpPr>
          <p:cNvPr id="8" name="Text 6"/>
          <p:cNvSpPr/>
          <p:nvPr/>
        </p:nvSpPr>
        <p:spPr>
          <a:xfrm>
            <a:off x="6309360" y="1901952"/>
            <a:ext cx="5074920" cy="365760"/>
          </a:xfrm>
          <a:prstGeom prst="rect">
            <a:avLst/>
          </a:prstGeom>
          <a:noFill/>
          <a:ln/>
        </p:spPr>
        <p:txBody>
          <a:bodyPr wrap="square" rtlCol="0" anchor="ctr"/>
          <a:lstStyle/>
          <a:p>
            <a:pPr marL="0" indent="0">
              <a:buNone/>
            </a:pPr>
            <a:r>
              <a:rPr lang="en-US" sz="1500" b="1" dirty="0">
                <a:solidFill>
                  <a:srgbClr val="22C55E"/>
                </a:solidFill>
                <a:latin typeface="Arial" pitchFamily="34" charset="0"/>
                <a:ea typeface="Arial" pitchFamily="34" charset="-122"/>
                <a:cs typeface="Arial" pitchFamily="34" charset="-120"/>
              </a:rPr>
              <a:t>Frontend Components</a:t>
            </a:r>
            <a:endParaRPr lang="en-US" sz="1500" dirty="0"/>
          </a:p>
        </p:txBody>
      </p:sp>
      <p:sp>
        <p:nvSpPr>
          <p:cNvPr id="9" name="Text 7"/>
          <p:cNvSpPr/>
          <p:nvPr/>
        </p:nvSpPr>
        <p:spPr>
          <a:xfrm>
            <a:off x="6309360" y="2331720"/>
            <a:ext cx="5074920" cy="3520440"/>
          </a:xfrm>
          <a:prstGeom prst="rect">
            <a:avLst/>
          </a:prstGeom>
          <a:noFill/>
          <a:ln/>
        </p:spPr>
        <p:txBody>
          <a:bodyPr wrap="square" rtlCol="0" anchor="t"/>
          <a:lstStyle/>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Command Center Dashboard — live risk status, provenance-tagged conditions</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GujaratMap.jsx — Leaflet map with settlement markers, priority coloring</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BiparjoyReplay.jsx — historical timeline scrubber + Simulate Intensification sliders with click-triggered “Run AI Response”</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AgentChainPanel.jsx — live visual chain of agent execution</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FishermenAlertCard.jsx — trilingual (EN/HI/GU) alert display</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EvacuationList.jsx, ReliefPanel.jsx, DamageAssessment.jsx, Badges.jsx (provenance badges)</a:t>
            </a:r>
            <a:endParaRPr lang="en-US" sz="1200" dirty="0"/>
          </a:p>
        </p:txBody>
      </p:sp>
      <p:sp>
        <p:nvSpPr>
          <p:cNvPr id="10" name="Text 8"/>
          <p:cNvSpPr/>
          <p:nvPr/>
        </p:nvSpPr>
        <p:spPr>
          <a:xfrm>
            <a:off x="11521440" y="6446520"/>
            <a:ext cx="548640" cy="320040"/>
          </a:xfrm>
          <a:prstGeom prst="rect">
            <a:avLst/>
          </a:prstGeom>
          <a:noFill/>
          <a:ln/>
        </p:spPr>
        <p:txBody>
          <a:bodyPr wrap="square" rtlCol="0" anchor="ctr"/>
          <a:lstStyle/>
          <a:p>
            <a:pPr marL="0" indent="0" algn="r">
              <a:buNone/>
            </a:pPr>
            <a:r>
              <a:rPr lang="en-US" sz="1100" dirty="0">
                <a:solidFill>
                  <a:srgbClr val="8A9AB8"/>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marL="0" indent="0">
              <a:buNone/>
            </a:pPr>
            <a:r>
              <a:rPr lang="en-US" sz="1300" b="1" kern="0" spc="200" dirty="0">
                <a:solidFill>
                  <a:srgbClr val="60A5FA"/>
                </a:solidFill>
                <a:latin typeface="Arial" pitchFamily="34" charset="0"/>
                <a:ea typeface="Arial" pitchFamily="34" charset="-122"/>
                <a:cs typeface="Arial" pitchFamily="34" charset="-120"/>
              </a:rPr>
              <a:t>SYSTEM IN ACTION</a:t>
            </a:r>
            <a:endParaRPr lang="en-US" sz="1300" dirty="0"/>
          </a:p>
        </p:txBody>
      </p:sp>
      <p:sp>
        <p:nvSpPr>
          <p:cNvPr id="3" name="Text 1"/>
          <p:cNvSpPr/>
          <p:nvPr/>
        </p:nvSpPr>
        <p:spPr>
          <a:xfrm>
            <a:off x="548640" y="713232"/>
            <a:ext cx="11064240" cy="82296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Agent Execution Workflow</a:t>
            </a:r>
            <a:endParaRPr lang="en-US" sz="3000" dirty="0"/>
          </a:p>
        </p:txBody>
      </p:sp>
      <p:sp>
        <p:nvSpPr>
          <p:cNvPr id="6" name="Text 4"/>
          <p:cNvSpPr/>
          <p:nvPr/>
        </p:nvSpPr>
        <p:spPr>
          <a:xfrm>
            <a:off x="11521440" y="6446520"/>
            <a:ext cx="548640" cy="320040"/>
          </a:xfrm>
          <a:prstGeom prst="rect">
            <a:avLst/>
          </a:prstGeom>
          <a:noFill/>
          <a:ln/>
        </p:spPr>
        <p:txBody>
          <a:bodyPr wrap="square" rtlCol="0" anchor="ctr"/>
          <a:lstStyle/>
          <a:p>
            <a:pPr marL="0" indent="0" algn="r">
              <a:buNone/>
            </a:pPr>
            <a:r>
              <a:rPr lang="en-US" sz="1100" dirty="0">
                <a:solidFill>
                  <a:srgbClr val="8A9AB8"/>
                </a:solidFill>
                <a:latin typeface="Arial" pitchFamily="34" charset="0"/>
                <a:ea typeface="Arial" pitchFamily="34" charset="-122"/>
                <a:cs typeface="Arial" pitchFamily="34" charset="-120"/>
              </a:rPr>
              <a:t>07</a:t>
            </a:r>
            <a:endParaRPr lang="en-US" sz="1100" dirty="0"/>
          </a:p>
        </p:txBody>
      </p:sp>
      <p:pic>
        <p:nvPicPr>
          <p:cNvPr id="8" name="Picture 7">
            <a:extLst>
              <a:ext uri="{FF2B5EF4-FFF2-40B4-BE49-F238E27FC236}">
                <a16:creationId xmlns:a16="http://schemas.microsoft.com/office/drawing/2014/main" id="{A54B6979-95D6-184A-66BD-B8FA1FB20218}"/>
              </a:ext>
            </a:extLst>
          </p:cNvPr>
          <p:cNvPicPr>
            <a:picLocks noChangeAspect="1"/>
          </p:cNvPicPr>
          <p:nvPr/>
        </p:nvPicPr>
        <p:blipFill>
          <a:blip r:embed="rId3"/>
          <a:stretch>
            <a:fillRect/>
          </a:stretch>
        </p:blipFill>
        <p:spPr>
          <a:xfrm>
            <a:off x="4331822" y="1388224"/>
            <a:ext cx="3009689" cy="499594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marL="0" indent="0">
              <a:buNone/>
            </a:pPr>
            <a:r>
              <a:rPr lang="en-US" sz="1300" b="1" kern="0" spc="200" dirty="0">
                <a:solidFill>
                  <a:srgbClr val="60A5FA"/>
                </a:solidFill>
                <a:latin typeface="Arial" pitchFamily="34" charset="0"/>
                <a:ea typeface="Arial" pitchFamily="34" charset="-122"/>
                <a:cs typeface="Arial" pitchFamily="34" charset="-120"/>
              </a:rPr>
              <a:t>ARCHITECTURE</a:t>
            </a:r>
            <a:endParaRPr lang="en-US" sz="1300" dirty="0"/>
          </a:p>
        </p:txBody>
      </p:sp>
      <p:sp>
        <p:nvSpPr>
          <p:cNvPr id="3" name="Text 1"/>
          <p:cNvSpPr/>
          <p:nvPr/>
        </p:nvSpPr>
        <p:spPr>
          <a:xfrm>
            <a:off x="548640" y="713232"/>
            <a:ext cx="11064240" cy="82296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Architecture Blueprint</a:t>
            </a:r>
            <a:endParaRPr lang="en-US" sz="3000" dirty="0"/>
          </a:p>
        </p:txBody>
      </p:sp>
      <p:sp>
        <p:nvSpPr>
          <p:cNvPr id="4" name="Shape 2"/>
          <p:cNvSpPr/>
          <p:nvPr/>
        </p:nvSpPr>
        <p:spPr>
          <a:xfrm>
            <a:off x="457200" y="1691640"/>
            <a:ext cx="2377440" cy="594360"/>
          </a:xfrm>
          <a:prstGeom prst="rect">
            <a:avLst/>
          </a:prstGeom>
          <a:solidFill>
            <a:srgbClr val="111827"/>
          </a:solidFill>
          <a:ln w="19050">
            <a:solidFill>
              <a:srgbClr val="22C55E"/>
            </a:solidFill>
            <a:prstDash val="solid"/>
          </a:ln>
        </p:spPr>
      </p:sp>
      <p:sp>
        <p:nvSpPr>
          <p:cNvPr id="5" name="Text 3"/>
          <p:cNvSpPr/>
          <p:nvPr/>
        </p:nvSpPr>
        <p:spPr>
          <a:xfrm>
            <a:off x="548640" y="1764792"/>
            <a:ext cx="2194560"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INCOIS OSF</a:t>
            </a:r>
            <a:endParaRPr lang="en-US" sz="1100" dirty="0"/>
          </a:p>
        </p:txBody>
      </p:sp>
      <p:sp>
        <p:nvSpPr>
          <p:cNvPr id="6" name="Text 4"/>
          <p:cNvSpPr/>
          <p:nvPr/>
        </p:nvSpPr>
        <p:spPr>
          <a:xfrm>
            <a:off x="548640" y="1975104"/>
            <a:ext cx="2194560" cy="256032"/>
          </a:xfrm>
          <a:prstGeom prst="rect">
            <a:avLst/>
          </a:prstGeom>
          <a:noFill/>
          <a:ln/>
        </p:spPr>
        <p:txBody>
          <a:bodyPr wrap="square" rtlCol="0" anchor="ctr"/>
          <a:lstStyle/>
          <a:p>
            <a:pPr marL="0" indent="0" algn="ctr">
              <a:buNone/>
            </a:pPr>
            <a:r>
              <a:rPr lang="en-US" sz="850" dirty="0">
                <a:solidFill>
                  <a:srgbClr val="8A9AB8"/>
                </a:solidFill>
                <a:latin typeface="Arial" pitchFamily="34" charset="0"/>
                <a:ea typeface="Arial" pitchFamily="34" charset="-122"/>
                <a:cs typeface="Arial" pitchFamily="34" charset="-120"/>
              </a:rPr>
              <a:t>live ocean data</a:t>
            </a:r>
            <a:endParaRPr lang="en-US" sz="850" dirty="0"/>
          </a:p>
        </p:txBody>
      </p:sp>
      <p:sp>
        <p:nvSpPr>
          <p:cNvPr id="7" name="Shape 5"/>
          <p:cNvSpPr/>
          <p:nvPr/>
        </p:nvSpPr>
        <p:spPr>
          <a:xfrm>
            <a:off x="457200" y="2423160"/>
            <a:ext cx="2377440" cy="594360"/>
          </a:xfrm>
          <a:prstGeom prst="rect">
            <a:avLst/>
          </a:prstGeom>
          <a:solidFill>
            <a:srgbClr val="111827"/>
          </a:solidFill>
          <a:ln w="19050">
            <a:solidFill>
              <a:srgbClr val="60A5FA"/>
            </a:solidFill>
            <a:prstDash val="solid"/>
          </a:ln>
        </p:spPr>
      </p:sp>
      <p:sp>
        <p:nvSpPr>
          <p:cNvPr id="8" name="Text 6"/>
          <p:cNvSpPr/>
          <p:nvPr/>
        </p:nvSpPr>
        <p:spPr>
          <a:xfrm>
            <a:off x="548640" y="2496312"/>
            <a:ext cx="2194560"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NOAA IBTrACS</a:t>
            </a:r>
            <a:endParaRPr lang="en-US" sz="1100" dirty="0"/>
          </a:p>
        </p:txBody>
      </p:sp>
      <p:sp>
        <p:nvSpPr>
          <p:cNvPr id="9" name="Text 7"/>
          <p:cNvSpPr/>
          <p:nvPr/>
        </p:nvSpPr>
        <p:spPr>
          <a:xfrm>
            <a:off x="548640" y="2706624"/>
            <a:ext cx="2194560" cy="256032"/>
          </a:xfrm>
          <a:prstGeom prst="rect">
            <a:avLst/>
          </a:prstGeom>
          <a:noFill/>
          <a:ln/>
        </p:spPr>
        <p:txBody>
          <a:bodyPr wrap="square" rtlCol="0" anchor="ctr"/>
          <a:lstStyle/>
          <a:p>
            <a:pPr marL="0" indent="0" algn="ctr">
              <a:buNone/>
            </a:pPr>
            <a:r>
              <a:rPr lang="en-US" sz="850" dirty="0">
                <a:solidFill>
                  <a:srgbClr val="8A9AB8"/>
                </a:solidFill>
                <a:latin typeface="Arial" pitchFamily="34" charset="0"/>
                <a:ea typeface="Arial" pitchFamily="34" charset="-122"/>
                <a:cs typeface="Arial" pitchFamily="34" charset="-120"/>
              </a:rPr>
              <a:t>Biparjoy historical</a:t>
            </a:r>
            <a:endParaRPr lang="en-US" sz="850" dirty="0"/>
          </a:p>
        </p:txBody>
      </p:sp>
      <p:sp>
        <p:nvSpPr>
          <p:cNvPr id="10" name="Shape 8"/>
          <p:cNvSpPr/>
          <p:nvPr/>
        </p:nvSpPr>
        <p:spPr>
          <a:xfrm>
            <a:off x="2834640" y="1984248"/>
            <a:ext cx="731520" cy="393192"/>
          </a:xfrm>
          <a:prstGeom prst="line">
            <a:avLst/>
          </a:prstGeom>
          <a:noFill/>
          <a:ln w="19050">
            <a:solidFill>
              <a:srgbClr val="2A3548"/>
            </a:solidFill>
            <a:prstDash val="solid"/>
            <a:tailEnd type="triangle"/>
          </a:ln>
        </p:spPr>
      </p:sp>
      <p:sp>
        <p:nvSpPr>
          <p:cNvPr id="11" name="Shape 9"/>
          <p:cNvSpPr/>
          <p:nvPr/>
        </p:nvSpPr>
        <p:spPr>
          <a:xfrm>
            <a:off x="2834640" y="2715768"/>
            <a:ext cx="731520" cy="0"/>
          </a:xfrm>
          <a:prstGeom prst="line">
            <a:avLst/>
          </a:prstGeom>
          <a:noFill/>
          <a:ln w="19050">
            <a:solidFill>
              <a:srgbClr val="2A3548"/>
            </a:solidFill>
            <a:prstDash val="solid"/>
            <a:tailEnd type="triangle"/>
          </a:ln>
        </p:spPr>
      </p:sp>
      <p:sp>
        <p:nvSpPr>
          <p:cNvPr id="12" name="Shape 10"/>
          <p:cNvSpPr/>
          <p:nvPr/>
        </p:nvSpPr>
        <p:spPr>
          <a:xfrm>
            <a:off x="3566160" y="2103120"/>
            <a:ext cx="2377440" cy="594360"/>
          </a:xfrm>
          <a:prstGeom prst="rect">
            <a:avLst/>
          </a:prstGeom>
          <a:solidFill>
            <a:srgbClr val="111827"/>
          </a:solidFill>
          <a:ln w="19050">
            <a:solidFill>
              <a:srgbClr val="F59E0B"/>
            </a:solidFill>
            <a:prstDash val="solid"/>
          </a:ln>
        </p:spPr>
      </p:sp>
      <p:sp>
        <p:nvSpPr>
          <p:cNvPr id="13" name="Text 11"/>
          <p:cNvSpPr/>
          <p:nvPr/>
        </p:nvSpPr>
        <p:spPr>
          <a:xfrm>
            <a:off x="3657600" y="2176272"/>
            <a:ext cx="2194560"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DataFusionEngine</a:t>
            </a:r>
            <a:endParaRPr lang="en-US" sz="1100" dirty="0"/>
          </a:p>
        </p:txBody>
      </p:sp>
      <p:sp>
        <p:nvSpPr>
          <p:cNvPr id="14" name="Text 12"/>
          <p:cNvSpPr/>
          <p:nvPr/>
        </p:nvSpPr>
        <p:spPr>
          <a:xfrm>
            <a:off x="3657600" y="2386584"/>
            <a:ext cx="2194560" cy="256032"/>
          </a:xfrm>
          <a:prstGeom prst="rect">
            <a:avLst/>
          </a:prstGeom>
          <a:noFill/>
          <a:ln/>
        </p:spPr>
        <p:txBody>
          <a:bodyPr wrap="square" rtlCol="0" anchor="ctr"/>
          <a:lstStyle/>
          <a:p>
            <a:pPr marL="0" indent="0" algn="ctr">
              <a:buNone/>
            </a:pPr>
            <a:r>
              <a:rPr lang="en-US" sz="850" dirty="0">
                <a:solidFill>
                  <a:srgbClr val="8A9AB8"/>
                </a:solidFill>
                <a:latin typeface="Arial" pitchFamily="34" charset="0"/>
                <a:ea typeface="Arial" pitchFamily="34" charset="-122"/>
                <a:cs typeface="Arial" pitchFamily="34" charset="-120"/>
              </a:rPr>
              <a:t>provenance tagging</a:t>
            </a:r>
            <a:endParaRPr lang="en-US" sz="850" dirty="0"/>
          </a:p>
        </p:txBody>
      </p:sp>
      <p:sp>
        <p:nvSpPr>
          <p:cNvPr id="15" name="Shape 13"/>
          <p:cNvSpPr/>
          <p:nvPr/>
        </p:nvSpPr>
        <p:spPr>
          <a:xfrm>
            <a:off x="5943600" y="2395728"/>
            <a:ext cx="731520" cy="0"/>
          </a:xfrm>
          <a:prstGeom prst="line">
            <a:avLst/>
          </a:prstGeom>
          <a:noFill/>
          <a:ln w="19050">
            <a:solidFill>
              <a:srgbClr val="2A3548"/>
            </a:solidFill>
            <a:prstDash val="solid"/>
            <a:tailEnd type="triangle"/>
          </a:ln>
        </p:spPr>
      </p:sp>
      <p:sp>
        <p:nvSpPr>
          <p:cNvPr id="16" name="Shape 14"/>
          <p:cNvSpPr/>
          <p:nvPr/>
        </p:nvSpPr>
        <p:spPr>
          <a:xfrm>
            <a:off x="6675120" y="2103120"/>
            <a:ext cx="2377440" cy="594360"/>
          </a:xfrm>
          <a:prstGeom prst="rect">
            <a:avLst/>
          </a:prstGeom>
          <a:solidFill>
            <a:srgbClr val="111827"/>
          </a:solidFill>
          <a:ln w="19050">
            <a:solidFill>
              <a:srgbClr val="60A5FA"/>
            </a:solidFill>
            <a:prstDash val="solid"/>
          </a:ln>
        </p:spPr>
      </p:sp>
      <p:sp>
        <p:nvSpPr>
          <p:cNvPr id="17" name="Text 15"/>
          <p:cNvSpPr/>
          <p:nvPr/>
        </p:nvSpPr>
        <p:spPr>
          <a:xfrm>
            <a:off x="6766560" y="2176272"/>
            <a:ext cx="2194560"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Cyclone Interpretation</a:t>
            </a:r>
            <a:endParaRPr lang="en-US" sz="1100" dirty="0"/>
          </a:p>
        </p:txBody>
      </p:sp>
      <p:sp>
        <p:nvSpPr>
          <p:cNvPr id="18" name="Text 16"/>
          <p:cNvSpPr/>
          <p:nvPr/>
        </p:nvSpPr>
        <p:spPr>
          <a:xfrm>
            <a:off x="6766560" y="2386584"/>
            <a:ext cx="2194560" cy="256032"/>
          </a:xfrm>
          <a:prstGeom prst="rect">
            <a:avLst/>
          </a:prstGeom>
          <a:noFill/>
          <a:ln/>
        </p:spPr>
        <p:txBody>
          <a:bodyPr wrap="square" rtlCol="0" anchor="ctr"/>
          <a:lstStyle/>
          <a:p>
            <a:pPr marL="0" indent="0" algn="ctr">
              <a:buNone/>
            </a:pPr>
            <a:r>
              <a:rPr lang="en-US" sz="850" dirty="0">
                <a:solidFill>
                  <a:srgbClr val="8A9AB8"/>
                </a:solidFill>
                <a:latin typeface="Arial" pitchFamily="34" charset="0"/>
                <a:ea typeface="Arial" pitchFamily="34" charset="-122"/>
                <a:cs typeface="Arial" pitchFamily="34" charset="-120"/>
              </a:rPr>
              <a:t>Agent 1</a:t>
            </a:r>
            <a:endParaRPr lang="en-US" sz="850" dirty="0"/>
          </a:p>
        </p:txBody>
      </p:sp>
      <p:sp>
        <p:nvSpPr>
          <p:cNvPr id="19" name="Shape 17"/>
          <p:cNvSpPr/>
          <p:nvPr/>
        </p:nvSpPr>
        <p:spPr>
          <a:xfrm>
            <a:off x="7863840" y="2697480"/>
            <a:ext cx="0" cy="320040"/>
          </a:xfrm>
          <a:prstGeom prst="line">
            <a:avLst/>
          </a:prstGeom>
          <a:noFill/>
          <a:ln w="19050">
            <a:solidFill>
              <a:srgbClr val="2A3548"/>
            </a:solidFill>
            <a:prstDash val="solid"/>
            <a:tailEnd type="triangle"/>
          </a:ln>
        </p:spPr>
      </p:sp>
      <p:sp>
        <p:nvSpPr>
          <p:cNvPr id="20" name="Shape 18"/>
          <p:cNvSpPr/>
          <p:nvPr/>
        </p:nvSpPr>
        <p:spPr>
          <a:xfrm>
            <a:off x="6035040" y="3108960"/>
            <a:ext cx="2377440" cy="548640"/>
          </a:xfrm>
          <a:prstGeom prst="rect">
            <a:avLst/>
          </a:prstGeom>
          <a:solidFill>
            <a:srgbClr val="111827"/>
          </a:solidFill>
          <a:ln w="19050">
            <a:solidFill>
              <a:srgbClr val="22C55E"/>
            </a:solidFill>
            <a:prstDash val="solid"/>
          </a:ln>
        </p:spPr>
      </p:sp>
      <p:sp>
        <p:nvSpPr>
          <p:cNvPr id="21" name="Text 19"/>
          <p:cNvSpPr/>
          <p:nvPr/>
        </p:nvSpPr>
        <p:spPr>
          <a:xfrm>
            <a:off x="6126480" y="3182112"/>
            <a:ext cx="2194560"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Fishermen Alert</a:t>
            </a:r>
            <a:endParaRPr lang="en-US" sz="1100" dirty="0"/>
          </a:p>
        </p:txBody>
      </p:sp>
      <p:sp>
        <p:nvSpPr>
          <p:cNvPr id="22" name="Text 20"/>
          <p:cNvSpPr/>
          <p:nvPr/>
        </p:nvSpPr>
        <p:spPr>
          <a:xfrm>
            <a:off x="6126480" y="3346704"/>
            <a:ext cx="2194560" cy="256032"/>
          </a:xfrm>
          <a:prstGeom prst="rect">
            <a:avLst/>
          </a:prstGeom>
          <a:noFill/>
          <a:ln/>
        </p:spPr>
        <p:txBody>
          <a:bodyPr wrap="square" rtlCol="0" anchor="ctr"/>
          <a:lstStyle/>
          <a:p>
            <a:pPr marL="0" indent="0" algn="ctr">
              <a:buNone/>
            </a:pPr>
            <a:r>
              <a:rPr lang="en-US" sz="850" dirty="0">
                <a:solidFill>
                  <a:srgbClr val="8A9AB8"/>
                </a:solidFill>
                <a:latin typeface="Arial" pitchFamily="34" charset="0"/>
                <a:ea typeface="Arial" pitchFamily="34" charset="-122"/>
                <a:cs typeface="Arial" pitchFamily="34" charset="-120"/>
              </a:rPr>
              <a:t>Agent 2 (parallel)</a:t>
            </a:r>
            <a:endParaRPr lang="en-US" sz="850" dirty="0"/>
          </a:p>
        </p:txBody>
      </p:sp>
      <p:sp>
        <p:nvSpPr>
          <p:cNvPr id="23" name="Shape 21"/>
          <p:cNvSpPr/>
          <p:nvPr/>
        </p:nvSpPr>
        <p:spPr>
          <a:xfrm>
            <a:off x="8778240" y="3108960"/>
            <a:ext cx="2377440" cy="548640"/>
          </a:xfrm>
          <a:prstGeom prst="rect">
            <a:avLst/>
          </a:prstGeom>
          <a:solidFill>
            <a:srgbClr val="111827"/>
          </a:solidFill>
          <a:ln w="19050">
            <a:solidFill>
              <a:srgbClr val="22C55E"/>
            </a:solidFill>
            <a:prstDash val="solid"/>
          </a:ln>
        </p:spPr>
      </p:sp>
      <p:sp>
        <p:nvSpPr>
          <p:cNvPr id="24" name="Text 22"/>
          <p:cNvSpPr/>
          <p:nvPr/>
        </p:nvSpPr>
        <p:spPr>
          <a:xfrm>
            <a:off x="8869680" y="3182112"/>
            <a:ext cx="2194560"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Evacuation Plan</a:t>
            </a:r>
            <a:endParaRPr lang="en-US" sz="1100" dirty="0"/>
          </a:p>
        </p:txBody>
      </p:sp>
      <p:sp>
        <p:nvSpPr>
          <p:cNvPr id="25" name="Text 23"/>
          <p:cNvSpPr/>
          <p:nvPr/>
        </p:nvSpPr>
        <p:spPr>
          <a:xfrm>
            <a:off x="8869680" y="3346704"/>
            <a:ext cx="2194560" cy="256032"/>
          </a:xfrm>
          <a:prstGeom prst="rect">
            <a:avLst/>
          </a:prstGeom>
          <a:noFill/>
          <a:ln/>
        </p:spPr>
        <p:txBody>
          <a:bodyPr wrap="square" rtlCol="0" anchor="ctr"/>
          <a:lstStyle/>
          <a:p>
            <a:pPr marL="0" indent="0" algn="ctr">
              <a:buNone/>
            </a:pPr>
            <a:r>
              <a:rPr lang="en-US" sz="850" dirty="0">
                <a:solidFill>
                  <a:srgbClr val="8A9AB8"/>
                </a:solidFill>
                <a:latin typeface="Arial" pitchFamily="34" charset="0"/>
                <a:ea typeface="Arial" pitchFamily="34" charset="-122"/>
                <a:cs typeface="Arial" pitchFamily="34" charset="-120"/>
              </a:rPr>
              <a:t>Agent 3 (parallel)</a:t>
            </a:r>
            <a:endParaRPr lang="en-US" sz="850" dirty="0"/>
          </a:p>
        </p:txBody>
      </p:sp>
      <p:sp>
        <p:nvSpPr>
          <p:cNvPr id="26" name="Shape 24"/>
          <p:cNvSpPr/>
          <p:nvPr/>
        </p:nvSpPr>
        <p:spPr>
          <a:xfrm>
            <a:off x="7223760" y="3108960"/>
            <a:ext cx="548640" cy="0"/>
          </a:xfrm>
          <a:prstGeom prst="line">
            <a:avLst/>
          </a:prstGeom>
          <a:noFill/>
          <a:ln w="19050">
            <a:solidFill>
              <a:srgbClr val="2A3548"/>
            </a:solidFill>
            <a:prstDash val="solid"/>
            <a:tailEnd type="triangle"/>
          </a:ln>
        </p:spPr>
      </p:sp>
      <p:sp>
        <p:nvSpPr>
          <p:cNvPr id="27" name="Shape 25"/>
          <p:cNvSpPr/>
          <p:nvPr/>
        </p:nvSpPr>
        <p:spPr>
          <a:xfrm>
            <a:off x="9966960" y="3108960"/>
            <a:ext cx="0" cy="0"/>
          </a:xfrm>
          <a:prstGeom prst="line">
            <a:avLst/>
          </a:prstGeom>
          <a:noFill/>
          <a:ln w="19050">
            <a:solidFill>
              <a:srgbClr val="2A3548"/>
            </a:solidFill>
            <a:prstDash val="solid"/>
            <a:tailEnd type="triangle"/>
          </a:ln>
        </p:spPr>
      </p:sp>
      <p:sp>
        <p:nvSpPr>
          <p:cNvPr id="28" name="Shape 26"/>
          <p:cNvSpPr/>
          <p:nvPr/>
        </p:nvSpPr>
        <p:spPr>
          <a:xfrm>
            <a:off x="9966960" y="3657600"/>
            <a:ext cx="0" cy="320040"/>
          </a:xfrm>
          <a:prstGeom prst="line">
            <a:avLst/>
          </a:prstGeom>
          <a:noFill/>
          <a:ln w="19050">
            <a:solidFill>
              <a:srgbClr val="2A3548"/>
            </a:solidFill>
            <a:prstDash val="solid"/>
            <a:tailEnd type="triangle"/>
          </a:ln>
        </p:spPr>
      </p:sp>
      <p:sp>
        <p:nvSpPr>
          <p:cNvPr id="29" name="Shape 27"/>
          <p:cNvSpPr/>
          <p:nvPr/>
        </p:nvSpPr>
        <p:spPr>
          <a:xfrm>
            <a:off x="8778240" y="4023360"/>
            <a:ext cx="2377440" cy="548640"/>
          </a:xfrm>
          <a:prstGeom prst="rect">
            <a:avLst/>
          </a:prstGeom>
          <a:solidFill>
            <a:srgbClr val="111827"/>
          </a:solidFill>
          <a:ln w="19050">
            <a:solidFill>
              <a:srgbClr val="F97316"/>
            </a:solidFill>
            <a:prstDash val="solid"/>
          </a:ln>
        </p:spPr>
      </p:sp>
      <p:sp>
        <p:nvSpPr>
          <p:cNvPr id="30" name="Text 28"/>
          <p:cNvSpPr/>
          <p:nvPr/>
        </p:nvSpPr>
        <p:spPr>
          <a:xfrm>
            <a:off x="8869680" y="4096512"/>
            <a:ext cx="2194560"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Relief Coordination</a:t>
            </a:r>
            <a:endParaRPr lang="en-US" sz="1100" dirty="0"/>
          </a:p>
        </p:txBody>
      </p:sp>
      <p:sp>
        <p:nvSpPr>
          <p:cNvPr id="31" name="Text 29"/>
          <p:cNvSpPr/>
          <p:nvPr/>
        </p:nvSpPr>
        <p:spPr>
          <a:xfrm>
            <a:off x="8869680" y="4261104"/>
            <a:ext cx="2194560" cy="256032"/>
          </a:xfrm>
          <a:prstGeom prst="rect">
            <a:avLst/>
          </a:prstGeom>
          <a:noFill/>
          <a:ln/>
        </p:spPr>
        <p:txBody>
          <a:bodyPr wrap="square" rtlCol="0" anchor="ctr"/>
          <a:lstStyle/>
          <a:p>
            <a:pPr marL="0" indent="0" algn="ctr">
              <a:buNone/>
            </a:pPr>
            <a:r>
              <a:rPr lang="en-US" sz="850" dirty="0">
                <a:solidFill>
                  <a:srgbClr val="8A9AB8"/>
                </a:solidFill>
                <a:latin typeface="Arial" pitchFamily="34" charset="0"/>
                <a:ea typeface="Arial" pitchFamily="34" charset="-122"/>
                <a:cs typeface="Arial" pitchFamily="34" charset="-120"/>
              </a:rPr>
              <a:t>Agent 4 (waits on Evac.)</a:t>
            </a:r>
            <a:endParaRPr lang="en-US" sz="850" dirty="0"/>
          </a:p>
        </p:txBody>
      </p:sp>
      <p:sp>
        <p:nvSpPr>
          <p:cNvPr id="32" name="Shape 30"/>
          <p:cNvSpPr/>
          <p:nvPr/>
        </p:nvSpPr>
        <p:spPr>
          <a:xfrm>
            <a:off x="7315200" y="3657600"/>
            <a:ext cx="1463040" cy="548640"/>
          </a:xfrm>
          <a:prstGeom prst="line">
            <a:avLst/>
          </a:prstGeom>
          <a:noFill/>
          <a:ln w="19050">
            <a:solidFill>
              <a:srgbClr val="2A3548"/>
            </a:solidFill>
            <a:prstDash val="solid"/>
            <a:tailEnd type="triangle"/>
          </a:ln>
        </p:spPr>
      </p:sp>
      <p:sp>
        <p:nvSpPr>
          <p:cNvPr id="33" name="Shape 31"/>
          <p:cNvSpPr/>
          <p:nvPr/>
        </p:nvSpPr>
        <p:spPr>
          <a:xfrm>
            <a:off x="8778240" y="4297680"/>
            <a:ext cx="0" cy="182880"/>
          </a:xfrm>
          <a:prstGeom prst="line">
            <a:avLst/>
          </a:prstGeom>
          <a:noFill/>
          <a:ln w="19050">
            <a:solidFill>
              <a:srgbClr val="2A3548"/>
            </a:solidFill>
            <a:prstDash val="solid"/>
            <a:tailEnd type="triangle"/>
          </a:ln>
        </p:spPr>
      </p:sp>
      <p:sp>
        <p:nvSpPr>
          <p:cNvPr id="34" name="Shape 32"/>
          <p:cNvSpPr/>
          <p:nvPr/>
        </p:nvSpPr>
        <p:spPr>
          <a:xfrm>
            <a:off x="6035040" y="4480560"/>
            <a:ext cx="2377440" cy="548640"/>
          </a:xfrm>
          <a:prstGeom prst="rect">
            <a:avLst/>
          </a:prstGeom>
          <a:solidFill>
            <a:srgbClr val="111827"/>
          </a:solidFill>
          <a:ln w="19050">
            <a:solidFill>
              <a:srgbClr val="EF4444"/>
            </a:solidFill>
            <a:prstDash val="solid"/>
          </a:ln>
        </p:spPr>
      </p:sp>
      <p:sp>
        <p:nvSpPr>
          <p:cNvPr id="35" name="Text 33"/>
          <p:cNvSpPr/>
          <p:nvPr/>
        </p:nvSpPr>
        <p:spPr>
          <a:xfrm>
            <a:off x="6126480" y="4553712"/>
            <a:ext cx="2194560"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Command Orchestrator</a:t>
            </a:r>
            <a:endParaRPr lang="en-US" sz="1100" dirty="0"/>
          </a:p>
        </p:txBody>
      </p:sp>
      <p:sp>
        <p:nvSpPr>
          <p:cNvPr id="36" name="Text 34"/>
          <p:cNvSpPr/>
          <p:nvPr/>
        </p:nvSpPr>
        <p:spPr>
          <a:xfrm>
            <a:off x="6126480" y="4718304"/>
            <a:ext cx="2194560" cy="256032"/>
          </a:xfrm>
          <a:prstGeom prst="rect">
            <a:avLst/>
          </a:prstGeom>
          <a:noFill/>
          <a:ln/>
        </p:spPr>
        <p:txBody>
          <a:bodyPr wrap="square" rtlCol="0" anchor="ctr"/>
          <a:lstStyle/>
          <a:p>
            <a:pPr marL="0" indent="0" algn="ctr">
              <a:buNone/>
            </a:pPr>
            <a:r>
              <a:rPr lang="en-US" sz="850" dirty="0">
                <a:solidFill>
                  <a:srgbClr val="8A9AB8"/>
                </a:solidFill>
                <a:latin typeface="Arial" pitchFamily="34" charset="0"/>
                <a:ea typeface="Arial" pitchFamily="34" charset="-122"/>
                <a:cs typeface="Arial" pitchFamily="34" charset="-120"/>
              </a:rPr>
              <a:t>Agent 6 — summary</a:t>
            </a:r>
            <a:endParaRPr lang="en-US" sz="850" dirty="0"/>
          </a:p>
        </p:txBody>
      </p:sp>
      <p:sp>
        <p:nvSpPr>
          <p:cNvPr id="37" name="Shape 35"/>
          <p:cNvSpPr/>
          <p:nvPr/>
        </p:nvSpPr>
        <p:spPr>
          <a:xfrm>
            <a:off x="7223760" y="5029200"/>
            <a:ext cx="0" cy="365760"/>
          </a:xfrm>
          <a:prstGeom prst="line">
            <a:avLst/>
          </a:prstGeom>
          <a:noFill/>
          <a:ln w="19050">
            <a:solidFill>
              <a:srgbClr val="2A3548"/>
            </a:solidFill>
            <a:prstDash val="solid"/>
            <a:tailEnd type="triangle"/>
          </a:ln>
        </p:spPr>
      </p:sp>
      <p:sp>
        <p:nvSpPr>
          <p:cNvPr id="38" name="Shape 36"/>
          <p:cNvSpPr/>
          <p:nvPr/>
        </p:nvSpPr>
        <p:spPr>
          <a:xfrm>
            <a:off x="6035040" y="5440680"/>
            <a:ext cx="2377440" cy="594360"/>
          </a:xfrm>
          <a:prstGeom prst="rect">
            <a:avLst/>
          </a:prstGeom>
          <a:solidFill>
            <a:srgbClr val="111827"/>
          </a:solidFill>
          <a:ln w="19050">
            <a:solidFill>
              <a:srgbClr val="FFFFFF"/>
            </a:solidFill>
            <a:prstDash val="solid"/>
          </a:ln>
        </p:spPr>
      </p:sp>
      <p:sp>
        <p:nvSpPr>
          <p:cNvPr id="39" name="Text 37"/>
          <p:cNvSpPr/>
          <p:nvPr/>
        </p:nvSpPr>
        <p:spPr>
          <a:xfrm>
            <a:off x="6126480" y="5513832"/>
            <a:ext cx="2194560"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React Command Center</a:t>
            </a:r>
            <a:endParaRPr lang="en-US" sz="1100" dirty="0"/>
          </a:p>
        </p:txBody>
      </p:sp>
      <p:sp>
        <p:nvSpPr>
          <p:cNvPr id="40" name="Text 38"/>
          <p:cNvSpPr/>
          <p:nvPr/>
        </p:nvSpPr>
        <p:spPr>
          <a:xfrm>
            <a:off x="6126480" y="5724144"/>
            <a:ext cx="2194560" cy="256032"/>
          </a:xfrm>
          <a:prstGeom prst="rect">
            <a:avLst/>
          </a:prstGeom>
          <a:noFill/>
          <a:ln/>
        </p:spPr>
        <p:txBody>
          <a:bodyPr wrap="square" rtlCol="0" anchor="ctr"/>
          <a:lstStyle/>
          <a:p>
            <a:pPr marL="0" indent="0" algn="ctr">
              <a:buNone/>
            </a:pPr>
            <a:r>
              <a:rPr lang="en-US" sz="850" dirty="0">
                <a:solidFill>
                  <a:srgbClr val="8A9AB8"/>
                </a:solidFill>
                <a:latin typeface="Arial" pitchFamily="34" charset="0"/>
                <a:ea typeface="Arial" pitchFamily="34" charset="-122"/>
                <a:cs typeface="Arial" pitchFamily="34" charset="-120"/>
              </a:rPr>
              <a:t>map · alerts · evac · relief</a:t>
            </a:r>
            <a:endParaRPr lang="en-US" sz="850" dirty="0"/>
          </a:p>
        </p:txBody>
      </p:sp>
      <p:sp>
        <p:nvSpPr>
          <p:cNvPr id="41" name="Shape 39"/>
          <p:cNvSpPr/>
          <p:nvPr/>
        </p:nvSpPr>
        <p:spPr>
          <a:xfrm>
            <a:off x="457200" y="5440680"/>
            <a:ext cx="2377440" cy="594360"/>
          </a:xfrm>
          <a:prstGeom prst="rect">
            <a:avLst/>
          </a:prstGeom>
          <a:solidFill>
            <a:srgbClr val="111827"/>
          </a:solidFill>
          <a:ln w="19050">
            <a:solidFill>
              <a:srgbClr val="8A9AB8"/>
            </a:solidFill>
            <a:prstDash val="solid"/>
          </a:ln>
        </p:spPr>
      </p:sp>
      <p:sp>
        <p:nvSpPr>
          <p:cNvPr id="42" name="Text 40"/>
          <p:cNvSpPr/>
          <p:nvPr/>
        </p:nvSpPr>
        <p:spPr>
          <a:xfrm>
            <a:off x="548640" y="5513832"/>
            <a:ext cx="2194560"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Damage Assessment</a:t>
            </a:r>
            <a:endParaRPr lang="en-US" sz="1100" dirty="0"/>
          </a:p>
        </p:txBody>
      </p:sp>
      <p:sp>
        <p:nvSpPr>
          <p:cNvPr id="43" name="Text 41"/>
          <p:cNvSpPr/>
          <p:nvPr/>
        </p:nvSpPr>
        <p:spPr>
          <a:xfrm>
            <a:off x="548640" y="5724144"/>
            <a:ext cx="2194560" cy="256032"/>
          </a:xfrm>
          <a:prstGeom prst="rect">
            <a:avLst/>
          </a:prstGeom>
          <a:noFill/>
          <a:ln/>
        </p:spPr>
        <p:txBody>
          <a:bodyPr wrap="square" rtlCol="0" anchor="ctr"/>
          <a:lstStyle/>
          <a:p>
            <a:pPr marL="0" indent="0" algn="ctr">
              <a:buNone/>
            </a:pPr>
            <a:r>
              <a:rPr lang="en-US" sz="850" dirty="0">
                <a:solidFill>
                  <a:srgbClr val="8A9AB8"/>
                </a:solidFill>
                <a:latin typeface="Arial" pitchFamily="34" charset="0"/>
                <a:ea typeface="Arial" pitchFamily="34" charset="-122"/>
                <a:cs typeface="Arial" pitchFamily="34" charset="-120"/>
              </a:rPr>
              <a:t>Agent 5 — independent</a:t>
            </a:r>
            <a:endParaRPr lang="en-US" sz="850" dirty="0"/>
          </a:p>
        </p:txBody>
      </p:sp>
      <p:sp>
        <p:nvSpPr>
          <p:cNvPr id="44" name="Shape 42"/>
          <p:cNvSpPr/>
          <p:nvPr/>
        </p:nvSpPr>
        <p:spPr>
          <a:xfrm>
            <a:off x="2834640" y="5733288"/>
            <a:ext cx="3200400" cy="0"/>
          </a:xfrm>
          <a:prstGeom prst="line">
            <a:avLst/>
          </a:prstGeom>
          <a:noFill/>
          <a:ln w="19050">
            <a:solidFill>
              <a:srgbClr val="2A3548"/>
            </a:solidFill>
            <a:prstDash val="solid"/>
            <a:tailEnd type="triangle"/>
          </a:ln>
        </p:spPr>
      </p:sp>
      <p:sp>
        <p:nvSpPr>
          <p:cNvPr id="45" name="Shape 43"/>
          <p:cNvSpPr/>
          <p:nvPr/>
        </p:nvSpPr>
        <p:spPr>
          <a:xfrm>
            <a:off x="9509760" y="1280160"/>
            <a:ext cx="2194560" cy="548640"/>
          </a:xfrm>
          <a:prstGeom prst="rect">
            <a:avLst/>
          </a:prstGeom>
          <a:solidFill>
            <a:srgbClr val="111827"/>
          </a:solidFill>
          <a:ln w="19050">
            <a:solidFill>
              <a:srgbClr val="60A5FA"/>
            </a:solidFill>
            <a:prstDash val="solid"/>
          </a:ln>
        </p:spPr>
      </p:sp>
      <p:sp>
        <p:nvSpPr>
          <p:cNvPr id="46" name="Text 44"/>
          <p:cNvSpPr/>
          <p:nvPr/>
        </p:nvSpPr>
        <p:spPr>
          <a:xfrm>
            <a:off x="9601200" y="1353312"/>
            <a:ext cx="2011680"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IBM Granite</a:t>
            </a:r>
            <a:endParaRPr lang="en-US" sz="1100" dirty="0"/>
          </a:p>
          <a:p>
            <a:pPr marL="0" indent="0" algn="ctr">
              <a:buNone/>
            </a:pPr>
            <a:r>
              <a:rPr lang="en-US" sz="1100" b="1" dirty="0">
                <a:solidFill>
                  <a:srgbClr val="FFFFFF"/>
                </a:solidFill>
                <a:latin typeface="Arial" pitchFamily="34" charset="0"/>
                <a:ea typeface="Arial" pitchFamily="34" charset="-122"/>
                <a:cs typeface="Arial" pitchFamily="34" charset="-120"/>
              </a:rPr>
              <a:t>(watsonx.ai)</a:t>
            </a:r>
            <a:endParaRPr lang="en-US" sz="1100" dirty="0"/>
          </a:p>
        </p:txBody>
      </p:sp>
      <p:sp>
        <p:nvSpPr>
          <p:cNvPr id="47" name="Shape 45"/>
          <p:cNvSpPr/>
          <p:nvPr/>
        </p:nvSpPr>
        <p:spPr>
          <a:xfrm>
            <a:off x="9509760" y="1828800"/>
            <a:ext cx="0" cy="2651760"/>
          </a:xfrm>
          <a:prstGeom prst="line">
            <a:avLst/>
          </a:prstGeom>
          <a:noFill/>
          <a:ln w="12700">
            <a:solidFill>
              <a:srgbClr val="2A3548"/>
            </a:solidFill>
            <a:prstDash val="dash"/>
          </a:ln>
        </p:spPr>
      </p:sp>
      <p:sp>
        <p:nvSpPr>
          <p:cNvPr id="48" name="Text 46"/>
          <p:cNvSpPr/>
          <p:nvPr/>
        </p:nvSpPr>
        <p:spPr>
          <a:xfrm>
            <a:off x="11521440" y="6446520"/>
            <a:ext cx="548640" cy="320040"/>
          </a:xfrm>
          <a:prstGeom prst="rect">
            <a:avLst/>
          </a:prstGeom>
          <a:noFill/>
          <a:ln/>
        </p:spPr>
        <p:txBody>
          <a:bodyPr wrap="square" rtlCol="0" anchor="ctr"/>
          <a:lstStyle/>
          <a:p>
            <a:pPr marL="0" indent="0" algn="r">
              <a:buNone/>
            </a:pPr>
            <a:r>
              <a:rPr lang="en-US" sz="1100" dirty="0">
                <a:solidFill>
                  <a:srgbClr val="8A9AB8"/>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marL="0" indent="0">
              <a:buNone/>
            </a:pPr>
            <a:r>
              <a:rPr lang="en-US" sz="1300" b="1" kern="0" spc="200" dirty="0">
                <a:solidFill>
                  <a:srgbClr val="60A5FA"/>
                </a:solidFill>
                <a:latin typeface="Arial" pitchFamily="34" charset="0"/>
                <a:ea typeface="Arial" pitchFamily="34" charset="-122"/>
                <a:cs typeface="Arial" pitchFamily="34" charset="-120"/>
              </a:rPr>
              <a:t>AGENTIC AI</a:t>
            </a:r>
            <a:endParaRPr lang="en-US" sz="1300" dirty="0"/>
          </a:p>
        </p:txBody>
      </p:sp>
      <p:sp>
        <p:nvSpPr>
          <p:cNvPr id="3" name="Text 1"/>
          <p:cNvSpPr/>
          <p:nvPr/>
        </p:nvSpPr>
        <p:spPr>
          <a:xfrm>
            <a:off x="548640" y="713232"/>
            <a:ext cx="11064240" cy="82296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Role of Agentic AI in the Solution</a:t>
            </a:r>
            <a:endParaRPr lang="en-US" sz="3000" dirty="0"/>
          </a:p>
        </p:txBody>
      </p:sp>
      <p:sp>
        <p:nvSpPr>
          <p:cNvPr id="4" name="Text 2"/>
          <p:cNvSpPr/>
          <p:nvPr/>
        </p:nvSpPr>
        <p:spPr>
          <a:xfrm>
            <a:off x="548640" y="1737360"/>
            <a:ext cx="11064240" cy="1188720"/>
          </a:xfrm>
          <a:prstGeom prst="rect">
            <a:avLst/>
          </a:prstGeom>
          <a:noFill/>
          <a:ln/>
        </p:spPr>
        <p:txBody>
          <a:bodyPr wrap="square" rtlCol="0" anchor="t"/>
          <a:lstStyle/>
          <a:p>
            <a:pPr marL="0" indent="0">
              <a:lnSpc>
                <a:spcPct val="125000"/>
              </a:lnSpc>
              <a:buNone/>
            </a:pPr>
            <a:r>
              <a:rPr lang="en-US" sz="1350" dirty="0">
                <a:solidFill>
                  <a:srgbClr val="E8EDF5"/>
                </a:solidFill>
                <a:latin typeface="Arial" pitchFamily="34" charset="0"/>
                <a:ea typeface="Arial" pitchFamily="34" charset="-122"/>
                <a:cs typeface="Arial" pitchFamily="34" charset="-120"/>
              </a:rPr>
              <a:t>SafeSurge AI is not a single chatbot wrapped around one prompt — it is a coordinated system of six independently-invokable agents, each with a defined responsibility, input/output JSON schema, and explicit constraints. IBM Granite, accessed through IBM watsonx.ai, powers the reasoning inside each agent, while deterministic application logic (thresholds, numeric calculations) handles what doesn't need an LLM.</a:t>
            </a:r>
            <a:endParaRPr lang="en-US" sz="1350" dirty="0"/>
          </a:p>
        </p:txBody>
      </p:sp>
      <p:sp>
        <p:nvSpPr>
          <p:cNvPr id="5" name="Shape 3"/>
          <p:cNvSpPr/>
          <p:nvPr/>
        </p:nvSpPr>
        <p:spPr>
          <a:xfrm>
            <a:off x="548640" y="3063240"/>
            <a:ext cx="3566160" cy="2971800"/>
          </a:xfrm>
          <a:prstGeom prst="rect">
            <a:avLst/>
          </a:prstGeom>
          <a:solidFill>
            <a:srgbClr val="111827"/>
          </a:solidFill>
          <a:ln w="12700">
            <a:solidFill>
              <a:srgbClr val="2A3548"/>
            </a:solidFill>
            <a:prstDash val="solid"/>
          </a:ln>
        </p:spPr>
      </p:sp>
      <p:sp>
        <p:nvSpPr>
          <p:cNvPr id="6" name="Text 4"/>
          <p:cNvSpPr/>
          <p:nvPr/>
        </p:nvSpPr>
        <p:spPr>
          <a:xfrm>
            <a:off x="777240" y="3227832"/>
            <a:ext cx="3108960" cy="365760"/>
          </a:xfrm>
          <a:prstGeom prst="rect">
            <a:avLst/>
          </a:prstGeom>
          <a:noFill/>
          <a:ln/>
        </p:spPr>
        <p:txBody>
          <a:bodyPr wrap="square" rtlCol="0" anchor="ctr"/>
          <a:lstStyle/>
          <a:p>
            <a:pPr marL="0" indent="0">
              <a:buNone/>
            </a:pPr>
            <a:r>
              <a:rPr lang="en-US" sz="1500" b="1" dirty="0">
                <a:solidFill>
                  <a:srgbClr val="60A5FA"/>
                </a:solidFill>
                <a:latin typeface="Arial" pitchFamily="34" charset="0"/>
                <a:ea typeface="Arial" pitchFamily="34" charset="-122"/>
                <a:cs typeface="Arial" pitchFamily="34" charset="-120"/>
              </a:rPr>
              <a:t>Coordinated, Not Isolated</a:t>
            </a:r>
            <a:endParaRPr lang="en-US" sz="1500" dirty="0"/>
          </a:p>
        </p:txBody>
      </p:sp>
      <p:sp>
        <p:nvSpPr>
          <p:cNvPr id="7" name="Text 5"/>
          <p:cNvSpPr/>
          <p:nvPr/>
        </p:nvSpPr>
        <p:spPr>
          <a:xfrm>
            <a:off x="777240" y="3657600"/>
            <a:ext cx="3108960" cy="2194560"/>
          </a:xfrm>
          <a:prstGeom prst="rect">
            <a:avLst/>
          </a:prstGeom>
          <a:noFill/>
          <a:ln/>
        </p:spPr>
        <p:txBody>
          <a:bodyPr wrap="square" rtlCol="0" anchor="t"/>
          <a:lstStyle/>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Agents pass structured JSON between each other</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Relief explicitly waits for Evacuation's output before running</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Orchestrator synthesizes all outputs into one Command Summary</a:t>
            </a:r>
            <a:endParaRPr lang="en-US" sz="1200" dirty="0"/>
          </a:p>
        </p:txBody>
      </p:sp>
      <p:sp>
        <p:nvSpPr>
          <p:cNvPr id="8" name="Shape 6"/>
          <p:cNvSpPr/>
          <p:nvPr/>
        </p:nvSpPr>
        <p:spPr>
          <a:xfrm>
            <a:off x="4297680" y="3063240"/>
            <a:ext cx="3566160" cy="2971800"/>
          </a:xfrm>
          <a:prstGeom prst="rect">
            <a:avLst/>
          </a:prstGeom>
          <a:solidFill>
            <a:srgbClr val="111827"/>
          </a:solidFill>
          <a:ln w="12700">
            <a:solidFill>
              <a:srgbClr val="2A3548"/>
            </a:solidFill>
            <a:prstDash val="solid"/>
          </a:ln>
        </p:spPr>
      </p:sp>
      <p:sp>
        <p:nvSpPr>
          <p:cNvPr id="9" name="Text 7"/>
          <p:cNvSpPr/>
          <p:nvPr/>
        </p:nvSpPr>
        <p:spPr>
          <a:xfrm>
            <a:off x="4526280" y="3227832"/>
            <a:ext cx="3108960" cy="365760"/>
          </a:xfrm>
          <a:prstGeom prst="rect">
            <a:avLst/>
          </a:prstGeom>
          <a:noFill/>
          <a:ln/>
        </p:spPr>
        <p:txBody>
          <a:bodyPr wrap="square" rtlCol="0" anchor="ctr"/>
          <a:lstStyle/>
          <a:p>
            <a:pPr marL="0" indent="0">
              <a:buNone/>
            </a:pPr>
            <a:r>
              <a:rPr lang="en-US" sz="1500" b="1" dirty="0">
                <a:solidFill>
                  <a:srgbClr val="22C55E"/>
                </a:solidFill>
                <a:latin typeface="Arial" pitchFamily="34" charset="0"/>
                <a:ea typeface="Arial" pitchFamily="34" charset="-122"/>
                <a:cs typeface="Arial" pitchFamily="34" charset="-120"/>
              </a:rPr>
              <a:t>Context-Aware &amp; Constrained</a:t>
            </a:r>
            <a:endParaRPr lang="en-US" sz="1500" dirty="0"/>
          </a:p>
        </p:txBody>
      </p:sp>
      <p:sp>
        <p:nvSpPr>
          <p:cNvPr id="10" name="Text 8"/>
          <p:cNvSpPr/>
          <p:nvPr/>
        </p:nvSpPr>
        <p:spPr>
          <a:xfrm>
            <a:off x="4526280" y="3657600"/>
            <a:ext cx="3108960" cy="2194560"/>
          </a:xfrm>
          <a:prstGeom prst="rect">
            <a:avLst/>
          </a:prstGeom>
          <a:noFill/>
          <a:ln/>
        </p:spPr>
        <p:txBody>
          <a:bodyPr wrap="square" rtlCol="0" anchor="t"/>
          <a:lstStyle/>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Cyclone agent is explicitly forbidden from claiming to generate its own forecast</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Every agent's disclaimer states its output is AI-support, not an official order</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Damage Assessment honestly declares no vision capability rather than pretending</a:t>
            </a:r>
            <a:endParaRPr lang="en-US" sz="1200" dirty="0"/>
          </a:p>
        </p:txBody>
      </p:sp>
      <p:sp>
        <p:nvSpPr>
          <p:cNvPr id="11" name="Shape 9"/>
          <p:cNvSpPr/>
          <p:nvPr/>
        </p:nvSpPr>
        <p:spPr>
          <a:xfrm>
            <a:off x="8046720" y="3063240"/>
            <a:ext cx="3566160" cy="2971800"/>
          </a:xfrm>
          <a:prstGeom prst="rect">
            <a:avLst/>
          </a:prstGeom>
          <a:solidFill>
            <a:srgbClr val="111827"/>
          </a:solidFill>
          <a:ln w="12700">
            <a:solidFill>
              <a:srgbClr val="2A3548"/>
            </a:solidFill>
            <a:prstDash val="solid"/>
          </a:ln>
        </p:spPr>
      </p:sp>
      <p:sp>
        <p:nvSpPr>
          <p:cNvPr id="12" name="Text 10"/>
          <p:cNvSpPr/>
          <p:nvPr/>
        </p:nvSpPr>
        <p:spPr>
          <a:xfrm>
            <a:off x="8275320" y="3227832"/>
            <a:ext cx="3108960" cy="365760"/>
          </a:xfrm>
          <a:prstGeom prst="rect">
            <a:avLst/>
          </a:prstGeom>
          <a:noFill/>
          <a:ln/>
        </p:spPr>
        <p:txBody>
          <a:bodyPr wrap="square" rtlCol="0" anchor="ctr"/>
          <a:lstStyle/>
          <a:p>
            <a:pPr marL="0" indent="0">
              <a:buNone/>
            </a:pPr>
            <a:r>
              <a:rPr lang="en-US" sz="1500" b="1" dirty="0">
                <a:solidFill>
                  <a:srgbClr val="F97316"/>
                </a:solidFill>
                <a:latin typeface="Arial" pitchFamily="34" charset="0"/>
                <a:ea typeface="Arial" pitchFamily="34" charset="-122"/>
                <a:cs typeface="Arial" pitchFamily="34" charset="-120"/>
              </a:rPr>
              <a:t>Efficient by Design</a:t>
            </a:r>
            <a:endParaRPr lang="en-US" sz="1500" dirty="0"/>
          </a:p>
        </p:txBody>
      </p:sp>
      <p:sp>
        <p:nvSpPr>
          <p:cNvPr id="13" name="Text 11"/>
          <p:cNvSpPr/>
          <p:nvPr/>
        </p:nvSpPr>
        <p:spPr>
          <a:xfrm>
            <a:off x="8275320" y="3657600"/>
            <a:ext cx="3108960" cy="2194560"/>
          </a:xfrm>
          <a:prstGeom prst="rect">
            <a:avLst/>
          </a:prstGeom>
          <a:noFill/>
          <a:ln/>
        </p:spPr>
        <p:txBody>
          <a:bodyPr wrap="square" rtlCol="0" anchor="t"/>
          <a:lstStyle/>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Independent agents (Fishermen, Evacuation) run in parallel</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IAM token cached; responses validated with one retry before deterministic fallback</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Sanitized execution log surfaced directly in the UI's Agent Reasoning Panel</a:t>
            </a:r>
            <a:endParaRPr lang="en-US" sz="1200" dirty="0"/>
          </a:p>
        </p:txBody>
      </p:sp>
      <p:sp>
        <p:nvSpPr>
          <p:cNvPr id="14" name="Text 12"/>
          <p:cNvSpPr/>
          <p:nvPr/>
        </p:nvSpPr>
        <p:spPr>
          <a:xfrm>
            <a:off x="11521440" y="6446520"/>
            <a:ext cx="548640" cy="320040"/>
          </a:xfrm>
          <a:prstGeom prst="rect">
            <a:avLst/>
          </a:prstGeom>
          <a:noFill/>
          <a:ln/>
        </p:spPr>
        <p:txBody>
          <a:bodyPr wrap="square" rtlCol="0" anchor="ctr"/>
          <a:lstStyle/>
          <a:p>
            <a:pPr marL="0" indent="0" algn="r">
              <a:buNone/>
            </a:pPr>
            <a:r>
              <a:rPr lang="en-US" sz="1100" dirty="0">
                <a:solidFill>
                  <a:srgbClr val="8A9AB8"/>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marL="0" indent="0">
              <a:buNone/>
            </a:pPr>
            <a:r>
              <a:rPr lang="en-US" sz="1300" b="1" kern="0" spc="200" dirty="0">
                <a:solidFill>
                  <a:srgbClr val="60A5FA"/>
                </a:solidFill>
                <a:latin typeface="Arial" pitchFamily="34" charset="0"/>
                <a:ea typeface="Arial" pitchFamily="34" charset="-122"/>
                <a:cs typeface="Arial" pitchFamily="34" charset="-120"/>
              </a:rPr>
              <a:t>DIFFERENTIATION</a:t>
            </a:r>
            <a:endParaRPr lang="en-US" sz="1300" dirty="0"/>
          </a:p>
        </p:txBody>
      </p:sp>
      <p:sp>
        <p:nvSpPr>
          <p:cNvPr id="3" name="Text 1"/>
          <p:cNvSpPr/>
          <p:nvPr/>
        </p:nvSpPr>
        <p:spPr>
          <a:xfrm>
            <a:off x="548640" y="713232"/>
            <a:ext cx="11064240" cy="82296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Novelty and Uniqueness</a:t>
            </a:r>
            <a:endParaRPr lang="en-US" sz="3000" dirty="0"/>
          </a:p>
        </p:txBody>
      </p:sp>
      <p:sp>
        <p:nvSpPr>
          <p:cNvPr id="4" name="Shape 2"/>
          <p:cNvSpPr/>
          <p:nvPr/>
        </p:nvSpPr>
        <p:spPr>
          <a:xfrm>
            <a:off x="548640" y="1691640"/>
            <a:ext cx="5349240" cy="1481328"/>
          </a:xfrm>
          <a:prstGeom prst="rect">
            <a:avLst/>
          </a:prstGeom>
          <a:solidFill>
            <a:srgbClr val="111827"/>
          </a:solidFill>
          <a:ln w="12700">
            <a:solidFill>
              <a:srgbClr val="2A3548"/>
            </a:solidFill>
            <a:prstDash val="solid"/>
          </a:ln>
        </p:spPr>
      </p:sp>
      <p:sp>
        <p:nvSpPr>
          <p:cNvPr id="5" name="Text 3"/>
          <p:cNvSpPr/>
          <p:nvPr/>
        </p:nvSpPr>
        <p:spPr>
          <a:xfrm>
            <a:off x="731520" y="1801368"/>
            <a:ext cx="4983480" cy="411480"/>
          </a:xfrm>
          <a:prstGeom prst="rect">
            <a:avLst/>
          </a:prstGeom>
          <a:noFill/>
          <a:ln/>
        </p:spPr>
        <p:txBody>
          <a:bodyPr wrap="square" rtlCol="0" anchor="ctr"/>
          <a:lstStyle/>
          <a:p>
            <a:pPr marL="0" indent="0">
              <a:buNone/>
            </a:pPr>
            <a:r>
              <a:rPr lang="en-US" sz="1250" b="1" dirty="0">
                <a:solidFill>
                  <a:srgbClr val="60A5FA"/>
                </a:solidFill>
                <a:latin typeface="Arial" pitchFamily="34" charset="0"/>
                <a:ea typeface="Arial" pitchFamily="34" charset="-122"/>
                <a:cs typeface="Arial" pitchFamily="34" charset="-120"/>
              </a:rPr>
              <a:t>Data Provenance as a First-Class Design Principle</a:t>
            </a:r>
            <a:endParaRPr lang="en-US" sz="1250" dirty="0"/>
          </a:p>
        </p:txBody>
      </p:sp>
      <p:sp>
        <p:nvSpPr>
          <p:cNvPr id="6" name="Text 4"/>
          <p:cNvSpPr/>
          <p:nvPr/>
        </p:nvSpPr>
        <p:spPr>
          <a:xfrm>
            <a:off x="731520" y="2221992"/>
            <a:ext cx="4983480" cy="841248"/>
          </a:xfrm>
          <a:prstGeom prst="rect">
            <a:avLst/>
          </a:prstGeom>
          <a:noFill/>
          <a:ln/>
        </p:spPr>
        <p:txBody>
          <a:bodyPr wrap="square" rtlCol="0" anchor="t"/>
          <a:lstStyle/>
          <a:p>
            <a:pPr marL="0" indent="0">
              <a:lnSpc>
                <a:spcPct val="115000"/>
              </a:lnSpc>
              <a:buNone/>
            </a:pPr>
            <a:r>
              <a:rPr lang="en-US" sz="1050" dirty="0">
                <a:solidFill>
                  <a:srgbClr val="E8EDF5"/>
                </a:solidFill>
                <a:latin typeface="Arial" pitchFamily="34" charset="0"/>
                <a:ea typeface="Arial" pitchFamily="34" charset="-122"/>
                <a:cs typeface="Arial" pitchFamily="34" charset="-120"/>
              </a:rPr>
              <a:t>Every value in the UI is explicitly tagged LIVE / HISTORICAL / DEMONSTRATION — not a common feature in hackathon prototypes, and directly addresses the credibility gap most AI disaster-tech demos face.</a:t>
            </a:r>
            <a:endParaRPr lang="en-US" sz="1050" dirty="0"/>
          </a:p>
        </p:txBody>
      </p:sp>
      <p:sp>
        <p:nvSpPr>
          <p:cNvPr id="7" name="Shape 5"/>
          <p:cNvSpPr/>
          <p:nvPr/>
        </p:nvSpPr>
        <p:spPr>
          <a:xfrm>
            <a:off x="6263640" y="1691640"/>
            <a:ext cx="5349240" cy="1481328"/>
          </a:xfrm>
          <a:prstGeom prst="rect">
            <a:avLst/>
          </a:prstGeom>
          <a:solidFill>
            <a:srgbClr val="111827"/>
          </a:solidFill>
          <a:ln w="12700">
            <a:solidFill>
              <a:srgbClr val="2A3548"/>
            </a:solidFill>
            <a:prstDash val="solid"/>
          </a:ln>
        </p:spPr>
      </p:sp>
      <p:sp>
        <p:nvSpPr>
          <p:cNvPr id="8" name="Text 6"/>
          <p:cNvSpPr/>
          <p:nvPr/>
        </p:nvSpPr>
        <p:spPr>
          <a:xfrm>
            <a:off x="6446520" y="1801368"/>
            <a:ext cx="4983480" cy="411480"/>
          </a:xfrm>
          <a:prstGeom prst="rect">
            <a:avLst/>
          </a:prstGeom>
          <a:noFill/>
          <a:ln/>
        </p:spPr>
        <p:txBody>
          <a:bodyPr wrap="square" rtlCol="0" anchor="ctr"/>
          <a:lstStyle/>
          <a:p>
            <a:pPr marL="0" indent="0">
              <a:buNone/>
            </a:pPr>
            <a:r>
              <a:rPr lang="en-US" sz="1250" b="1" dirty="0">
                <a:solidFill>
                  <a:srgbClr val="60A5FA"/>
                </a:solidFill>
                <a:latin typeface="Arial" pitchFamily="34" charset="0"/>
                <a:ea typeface="Arial" pitchFamily="34" charset="-122"/>
                <a:cs typeface="Arial" pitchFamily="34" charset="-120"/>
              </a:rPr>
              <a:t>Guaranteed-Reliable Demo Path</a:t>
            </a:r>
            <a:endParaRPr lang="en-US" sz="1250" dirty="0"/>
          </a:p>
        </p:txBody>
      </p:sp>
      <p:sp>
        <p:nvSpPr>
          <p:cNvPr id="9" name="Text 7"/>
          <p:cNvSpPr/>
          <p:nvPr/>
        </p:nvSpPr>
        <p:spPr>
          <a:xfrm>
            <a:off x="6446520" y="2221992"/>
            <a:ext cx="4983480" cy="841248"/>
          </a:xfrm>
          <a:prstGeom prst="rect">
            <a:avLst/>
          </a:prstGeom>
          <a:noFill/>
          <a:ln/>
        </p:spPr>
        <p:txBody>
          <a:bodyPr wrap="square" rtlCol="0" anchor="t"/>
          <a:lstStyle/>
          <a:p>
            <a:pPr marL="0" indent="0">
              <a:lnSpc>
                <a:spcPct val="115000"/>
              </a:lnSpc>
              <a:buNone/>
            </a:pPr>
            <a:r>
              <a:rPr lang="en-US" sz="1050" dirty="0">
                <a:solidFill>
                  <a:srgbClr val="E8EDF5"/>
                </a:solidFill>
                <a:latin typeface="Arial" pitchFamily="34" charset="0"/>
                <a:ea typeface="Arial" pitchFamily="34" charset="-122"/>
                <a:cs typeface="Arial" pitchFamily="34" charset="-120"/>
              </a:rPr>
              <a:t>Historical replay of a real, Gujarat-relevant cyclone (Biparjoy 2023) is the primary demo path, not an emergency fallback — the system works fully offline with real data, not fabricated placeholders.</a:t>
            </a:r>
            <a:endParaRPr lang="en-US" sz="1050" dirty="0"/>
          </a:p>
        </p:txBody>
      </p:sp>
      <p:sp>
        <p:nvSpPr>
          <p:cNvPr id="10" name="Shape 8"/>
          <p:cNvSpPr/>
          <p:nvPr/>
        </p:nvSpPr>
        <p:spPr>
          <a:xfrm>
            <a:off x="548640" y="3264408"/>
            <a:ext cx="5349240" cy="1481328"/>
          </a:xfrm>
          <a:prstGeom prst="rect">
            <a:avLst/>
          </a:prstGeom>
          <a:solidFill>
            <a:srgbClr val="111827"/>
          </a:solidFill>
          <a:ln w="12700">
            <a:solidFill>
              <a:srgbClr val="2A3548"/>
            </a:solidFill>
            <a:prstDash val="solid"/>
          </a:ln>
        </p:spPr>
      </p:sp>
      <p:sp>
        <p:nvSpPr>
          <p:cNvPr id="11" name="Text 9"/>
          <p:cNvSpPr/>
          <p:nvPr/>
        </p:nvSpPr>
        <p:spPr>
          <a:xfrm>
            <a:off x="731520" y="3374136"/>
            <a:ext cx="4983480" cy="411480"/>
          </a:xfrm>
          <a:prstGeom prst="rect">
            <a:avLst/>
          </a:prstGeom>
          <a:noFill/>
          <a:ln/>
        </p:spPr>
        <p:txBody>
          <a:bodyPr wrap="square" rtlCol="0" anchor="ctr"/>
          <a:lstStyle/>
          <a:p>
            <a:pPr marL="0" indent="0">
              <a:buNone/>
            </a:pPr>
            <a:r>
              <a:rPr lang="en-US" sz="1250" b="1" dirty="0">
                <a:solidFill>
                  <a:srgbClr val="60A5FA"/>
                </a:solidFill>
                <a:latin typeface="Arial" pitchFamily="34" charset="0"/>
                <a:ea typeface="Arial" pitchFamily="34" charset="-122"/>
                <a:cs typeface="Arial" pitchFamily="34" charset="-120"/>
              </a:rPr>
              <a:t>Genuine Live Data Integration</a:t>
            </a:r>
            <a:endParaRPr lang="en-US" sz="1250" dirty="0"/>
          </a:p>
        </p:txBody>
      </p:sp>
      <p:sp>
        <p:nvSpPr>
          <p:cNvPr id="12" name="Text 10"/>
          <p:cNvSpPr/>
          <p:nvPr/>
        </p:nvSpPr>
        <p:spPr>
          <a:xfrm>
            <a:off x="731520" y="3794760"/>
            <a:ext cx="4983480" cy="841248"/>
          </a:xfrm>
          <a:prstGeom prst="rect">
            <a:avLst/>
          </a:prstGeom>
          <a:noFill/>
          <a:ln/>
        </p:spPr>
        <p:txBody>
          <a:bodyPr wrap="square" rtlCol="0" anchor="t"/>
          <a:lstStyle/>
          <a:p>
            <a:pPr marL="0" indent="0">
              <a:lnSpc>
                <a:spcPct val="115000"/>
              </a:lnSpc>
              <a:buNone/>
            </a:pPr>
            <a:r>
              <a:rPr lang="en-US" sz="1050" dirty="0">
                <a:solidFill>
                  <a:srgbClr val="E8EDF5"/>
                </a:solidFill>
                <a:latin typeface="Arial" pitchFamily="34" charset="0"/>
                <a:ea typeface="Arial" pitchFamily="34" charset="-122"/>
                <a:cs typeface="Arial" pitchFamily="34" charset="-120"/>
              </a:rPr>
              <a:t>Real WMS calls to INCOIS's Ocean State Forecast service, verified working in runtime, not a simulated API response.</a:t>
            </a:r>
            <a:endParaRPr lang="en-US" sz="1050" dirty="0"/>
          </a:p>
        </p:txBody>
      </p:sp>
      <p:sp>
        <p:nvSpPr>
          <p:cNvPr id="13" name="Shape 11"/>
          <p:cNvSpPr/>
          <p:nvPr/>
        </p:nvSpPr>
        <p:spPr>
          <a:xfrm>
            <a:off x="6263640" y="3264408"/>
            <a:ext cx="5349240" cy="1481328"/>
          </a:xfrm>
          <a:prstGeom prst="rect">
            <a:avLst/>
          </a:prstGeom>
          <a:solidFill>
            <a:srgbClr val="111827"/>
          </a:solidFill>
          <a:ln w="12700">
            <a:solidFill>
              <a:srgbClr val="2A3548"/>
            </a:solidFill>
            <a:prstDash val="solid"/>
          </a:ln>
        </p:spPr>
      </p:sp>
      <p:sp>
        <p:nvSpPr>
          <p:cNvPr id="14" name="Text 12"/>
          <p:cNvSpPr/>
          <p:nvPr/>
        </p:nvSpPr>
        <p:spPr>
          <a:xfrm>
            <a:off x="6446520" y="3374136"/>
            <a:ext cx="4983480" cy="411480"/>
          </a:xfrm>
          <a:prstGeom prst="rect">
            <a:avLst/>
          </a:prstGeom>
          <a:noFill/>
          <a:ln/>
        </p:spPr>
        <p:txBody>
          <a:bodyPr wrap="square" rtlCol="0" anchor="ctr"/>
          <a:lstStyle/>
          <a:p>
            <a:pPr marL="0" indent="0">
              <a:buNone/>
            </a:pPr>
            <a:r>
              <a:rPr lang="en-US" sz="1250" b="1" dirty="0">
                <a:solidFill>
                  <a:srgbClr val="60A5FA"/>
                </a:solidFill>
                <a:latin typeface="Arial" pitchFamily="34" charset="0"/>
                <a:ea typeface="Arial" pitchFamily="34" charset="-122"/>
                <a:cs typeface="Arial" pitchFamily="34" charset="-120"/>
              </a:rPr>
              <a:t>Correctly Modeled Agent Dependencies</a:t>
            </a:r>
            <a:endParaRPr lang="en-US" sz="1250" dirty="0"/>
          </a:p>
        </p:txBody>
      </p:sp>
      <p:sp>
        <p:nvSpPr>
          <p:cNvPr id="15" name="Text 13"/>
          <p:cNvSpPr/>
          <p:nvPr/>
        </p:nvSpPr>
        <p:spPr>
          <a:xfrm>
            <a:off x="6446520" y="3794760"/>
            <a:ext cx="4983480" cy="841248"/>
          </a:xfrm>
          <a:prstGeom prst="rect">
            <a:avLst/>
          </a:prstGeom>
          <a:noFill/>
          <a:ln/>
        </p:spPr>
        <p:txBody>
          <a:bodyPr wrap="square" rtlCol="0" anchor="t"/>
          <a:lstStyle/>
          <a:p>
            <a:pPr marL="0" indent="0">
              <a:lnSpc>
                <a:spcPct val="115000"/>
              </a:lnSpc>
              <a:buNone/>
            </a:pPr>
            <a:r>
              <a:rPr lang="en-US" sz="1050" dirty="0">
                <a:solidFill>
                  <a:srgbClr val="E8EDF5"/>
                </a:solidFill>
                <a:latin typeface="Arial" pitchFamily="34" charset="0"/>
                <a:ea typeface="Arial" pitchFamily="34" charset="-122"/>
                <a:cs typeface="Arial" pitchFamily="34" charset="-120"/>
              </a:rPr>
              <a:t>Relief Coordination explicitly waits on Evacuation Planning's actual output — not run in naive parallel — reflecting real operational logic.</a:t>
            </a:r>
            <a:endParaRPr lang="en-US" sz="1050" dirty="0"/>
          </a:p>
        </p:txBody>
      </p:sp>
      <p:sp>
        <p:nvSpPr>
          <p:cNvPr id="16" name="Shape 14"/>
          <p:cNvSpPr/>
          <p:nvPr/>
        </p:nvSpPr>
        <p:spPr>
          <a:xfrm>
            <a:off x="548640" y="4837176"/>
            <a:ext cx="5349240" cy="1481328"/>
          </a:xfrm>
          <a:prstGeom prst="rect">
            <a:avLst/>
          </a:prstGeom>
          <a:solidFill>
            <a:srgbClr val="111827"/>
          </a:solidFill>
          <a:ln w="12700">
            <a:solidFill>
              <a:srgbClr val="2A3548"/>
            </a:solidFill>
            <a:prstDash val="solid"/>
          </a:ln>
        </p:spPr>
      </p:sp>
      <p:sp>
        <p:nvSpPr>
          <p:cNvPr id="17" name="Text 15"/>
          <p:cNvSpPr/>
          <p:nvPr/>
        </p:nvSpPr>
        <p:spPr>
          <a:xfrm>
            <a:off x="731520" y="4946904"/>
            <a:ext cx="4983480" cy="411480"/>
          </a:xfrm>
          <a:prstGeom prst="rect">
            <a:avLst/>
          </a:prstGeom>
          <a:noFill/>
          <a:ln/>
        </p:spPr>
        <p:txBody>
          <a:bodyPr wrap="square" rtlCol="0" anchor="ctr"/>
          <a:lstStyle/>
          <a:p>
            <a:pPr marL="0" indent="0">
              <a:buNone/>
            </a:pPr>
            <a:r>
              <a:rPr lang="en-US" sz="1250" b="1" dirty="0">
                <a:solidFill>
                  <a:srgbClr val="60A5FA"/>
                </a:solidFill>
                <a:latin typeface="Arial" pitchFamily="34" charset="0"/>
                <a:ea typeface="Arial" pitchFamily="34" charset="-122"/>
                <a:cs typeface="Arial" pitchFamily="34" charset="-120"/>
              </a:rPr>
              <a:t>Trilingual, Human-Centered Alerts</a:t>
            </a:r>
            <a:endParaRPr lang="en-US" sz="1250" dirty="0"/>
          </a:p>
        </p:txBody>
      </p:sp>
      <p:sp>
        <p:nvSpPr>
          <p:cNvPr id="18" name="Text 16"/>
          <p:cNvSpPr/>
          <p:nvPr/>
        </p:nvSpPr>
        <p:spPr>
          <a:xfrm>
            <a:off x="731520" y="5367528"/>
            <a:ext cx="4983480" cy="841248"/>
          </a:xfrm>
          <a:prstGeom prst="rect">
            <a:avLst/>
          </a:prstGeom>
          <a:noFill/>
          <a:ln/>
        </p:spPr>
        <p:txBody>
          <a:bodyPr wrap="square" rtlCol="0" anchor="t"/>
          <a:lstStyle/>
          <a:p>
            <a:pPr marL="0" indent="0">
              <a:lnSpc>
                <a:spcPct val="115000"/>
              </a:lnSpc>
              <a:buNone/>
            </a:pPr>
            <a:r>
              <a:rPr lang="en-US" sz="1050" dirty="0">
                <a:solidFill>
                  <a:srgbClr val="E8EDF5"/>
                </a:solidFill>
                <a:latin typeface="Arial" pitchFamily="34" charset="0"/>
                <a:ea typeface="Arial" pitchFamily="34" charset="-122"/>
                <a:cs typeface="Arial" pitchFamily="34" charset="-120"/>
              </a:rPr>
              <a:t>Fishermen safety alerts generated natively in English, Hindi, and authentic Gujarati Unicode script in a single structured call.</a:t>
            </a:r>
            <a:endParaRPr lang="en-US" sz="1050" dirty="0"/>
          </a:p>
        </p:txBody>
      </p:sp>
      <p:sp>
        <p:nvSpPr>
          <p:cNvPr id="19" name="Shape 17"/>
          <p:cNvSpPr/>
          <p:nvPr/>
        </p:nvSpPr>
        <p:spPr>
          <a:xfrm>
            <a:off x="6263640" y="4837176"/>
            <a:ext cx="5349240" cy="1481328"/>
          </a:xfrm>
          <a:prstGeom prst="rect">
            <a:avLst/>
          </a:prstGeom>
          <a:solidFill>
            <a:srgbClr val="111827"/>
          </a:solidFill>
          <a:ln w="12700">
            <a:solidFill>
              <a:srgbClr val="2A3548"/>
            </a:solidFill>
            <a:prstDash val="solid"/>
          </a:ln>
        </p:spPr>
      </p:sp>
      <p:sp>
        <p:nvSpPr>
          <p:cNvPr id="20" name="Text 18"/>
          <p:cNvSpPr/>
          <p:nvPr/>
        </p:nvSpPr>
        <p:spPr>
          <a:xfrm>
            <a:off x="6446520" y="4946904"/>
            <a:ext cx="4983480" cy="411480"/>
          </a:xfrm>
          <a:prstGeom prst="rect">
            <a:avLst/>
          </a:prstGeom>
          <a:noFill/>
          <a:ln/>
        </p:spPr>
        <p:txBody>
          <a:bodyPr wrap="square" rtlCol="0" anchor="ctr"/>
          <a:lstStyle/>
          <a:p>
            <a:pPr marL="0" indent="0">
              <a:buNone/>
            </a:pPr>
            <a:r>
              <a:rPr lang="en-US" sz="1250" b="1" dirty="0">
                <a:solidFill>
                  <a:srgbClr val="60A5FA"/>
                </a:solidFill>
                <a:latin typeface="Arial" pitchFamily="34" charset="0"/>
                <a:ea typeface="Arial" pitchFamily="34" charset="-122"/>
                <a:cs typeface="Arial" pitchFamily="34" charset="-120"/>
              </a:rPr>
              <a:t>Honest AI Capability Claims</a:t>
            </a:r>
            <a:endParaRPr lang="en-US" sz="1250" dirty="0"/>
          </a:p>
        </p:txBody>
      </p:sp>
      <p:sp>
        <p:nvSpPr>
          <p:cNvPr id="21" name="Text 19"/>
          <p:cNvSpPr/>
          <p:nvPr/>
        </p:nvSpPr>
        <p:spPr>
          <a:xfrm>
            <a:off x="6446520" y="5367528"/>
            <a:ext cx="4983480" cy="841248"/>
          </a:xfrm>
          <a:prstGeom prst="rect">
            <a:avLst/>
          </a:prstGeom>
          <a:noFill/>
          <a:ln/>
        </p:spPr>
        <p:txBody>
          <a:bodyPr wrap="square" rtlCol="0" anchor="t"/>
          <a:lstStyle/>
          <a:p>
            <a:pPr marL="0" indent="0">
              <a:lnSpc>
                <a:spcPct val="115000"/>
              </a:lnSpc>
              <a:buNone/>
            </a:pPr>
            <a:r>
              <a:rPr lang="en-US" sz="1050" dirty="0">
                <a:solidFill>
                  <a:srgbClr val="E8EDF5"/>
                </a:solidFill>
                <a:latin typeface="Arial" pitchFamily="34" charset="0"/>
                <a:ea typeface="Arial" pitchFamily="34" charset="-122"/>
                <a:cs typeface="Arial" pitchFamily="34" charset="-120"/>
              </a:rPr>
              <a:t>The system explicitly states what it cannot do (e.g., no image-analysis capability) rather than presenting a misleading feature.</a:t>
            </a:r>
            <a:endParaRPr lang="en-US" sz="1050" dirty="0"/>
          </a:p>
        </p:txBody>
      </p:sp>
      <p:sp>
        <p:nvSpPr>
          <p:cNvPr id="22" name="Text 20"/>
          <p:cNvSpPr/>
          <p:nvPr/>
        </p:nvSpPr>
        <p:spPr>
          <a:xfrm>
            <a:off x="11521440" y="6446520"/>
            <a:ext cx="548640" cy="320040"/>
          </a:xfrm>
          <a:prstGeom prst="rect">
            <a:avLst/>
          </a:prstGeom>
          <a:noFill/>
          <a:ln/>
        </p:spPr>
        <p:txBody>
          <a:bodyPr wrap="square" rtlCol="0" anchor="ctr"/>
          <a:lstStyle/>
          <a:p>
            <a:pPr marL="0" indent="0" algn="r">
              <a:buNone/>
            </a:pPr>
            <a:r>
              <a:rPr lang="en-US" sz="1100" dirty="0">
                <a:solidFill>
                  <a:srgbClr val="8A9AB8"/>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marL="0" indent="0">
              <a:buNone/>
            </a:pPr>
            <a:r>
              <a:rPr lang="en-US" sz="1300" b="1" kern="0" spc="200" dirty="0">
                <a:solidFill>
                  <a:srgbClr val="60A5FA"/>
                </a:solidFill>
                <a:latin typeface="Arial" pitchFamily="34" charset="0"/>
                <a:ea typeface="Arial" pitchFamily="34" charset="-122"/>
                <a:cs typeface="Arial" pitchFamily="34" charset="-120"/>
              </a:rPr>
              <a:t>REPOSITORY</a:t>
            </a:r>
            <a:endParaRPr lang="en-US" sz="1300" dirty="0"/>
          </a:p>
        </p:txBody>
      </p:sp>
      <p:sp>
        <p:nvSpPr>
          <p:cNvPr id="3" name="Text 1"/>
          <p:cNvSpPr/>
          <p:nvPr/>
        </p:nvSpPr>
        <p:spPr>
          <a:xfrm>
            <a:off x="548640" y="713232"/>
            <a:ext cx="11064240" cy="822960"/>
          </a:xfrm>
          <a:prstGeom prst="rect">
            <a:avLst/>
          </a:prstGeom>
          <a:noFill/>
          <a:ln/>
        </p:spPr>
        <p:txBody>
          <a:bodyPr wrap="square" rtlCol="0" anchor="ctr"/>
          <a:lstStyle/>
          <a:p>
            <a:r>
              <a:rPr lang="en-US" sz="3000" b="1" dirty="0">
                <a:solidFill>
                  <a:srgbClr val="FFFFFF"/>
                </a:solidFill>
                <a:latin typeface="Arial" pitchFamily="34" charset="0"/>
                <a:ea typeface="Arial" pitchFamily="34" charset="-122"/>
                <a:cs typeface="Arial" pitchFamily="34" charset="-120"/>
              </a:rPr>
              <a:t>GitHub Link</a:t>
            </a:r>
            <a:endParaRPr lang="en-US" sz="3000" dirty="0"/>
          </a:p>
        </p:txBody>
      </p:sp>
      <p:sp>
        <p:nvSpPr>
          <p:cNvPr id="4" name="Shape 2"/>
          <p:cNvSpPr/>
          <p:nvPr/>
        </p:nvSpPr>
        <p:spPr>
          <a:xfrm>
            <a:off x="548640" y="1737360"/>
            <a:ext cx="11064240" cy="1737360"/>
          </a:xfrm>
          <a:prstGeom prst="rect">
            <a:avLst/>
          </a:prstGeom>
          <a:solidFill>
            <a:srgbClr val="111827"/>
          </a:solidFill>
          <a:ln w="12700">
            <a:solidFill>
              <a:srgbClr val="2A3548"/>
            </a:solidFill>
            <a:prstDash val="solid"/>
          </a:ln>
        </p:spPr>
      </p:sp>
      <p:sp>
        <p:nvSpPr>
          <p:cNvPr id="5" name="Text 3"/>
          <p:cNvSpPr/>
          <p:nvPr/>
        </p:nvSpPr>
        <p:spPr>
          <a:xfrm>
            <a:off x="777240" y="1901952"/>
            <a:ext cx="10607040" cy="365760"/>
          </a:xfrm>
          <a:prstGeom prst="rect">
            <a:avLst/>
          </a:prstGeom>
          <a:noFill/>
          <a:ln/>
        </p:spPr>
        <p:txBody>
          <a:bodyPr wrap="square" rtlCol="0" anchor="ctr"/>
          <a:lstStyle/>
          <a:p>
            <a:pPr marL="0" indent="0">
              <a:buNone/>
            </a:pPr>
            <a:r>
              <a:rPr lang="en-US" sz="1500" b="1" dirty="0">
                <a:solidFill>
                  <a:srgbClr val="22C55E"/>
                </a:solidFill>
                <a:latin typeface="Arial" pitchFamily="34" charset="0"/>
                <a:ea typeface="Arial" pitchFamily="34" charset="-122"/>
                <a:cs typeface="Arial" pitchFamily="34" charset="-120"/>
              </a:rPr>
              <a:t>Submission Checklist</a:t>
            </a:r>
            <a:endParaRPr lang="en-US" sz="1500" dirty="0"/>
          </a:p>
        </p:txBody>
      </p:sp>
      <p:sp>
        <p:nvSpPr>
          <p:cNvPr id="6" name="Text 4"/>
          <p:cNvSpPr/>
          <p:nvPr/>
        </p:nvSpPr>
        <p:spPr>
          <a:xfrm>
            <a:off x="777240" y="2331720"/>
            <a:ext cx="10607040" cy="960120"/>
          </a:xfrm>
          <a:prstGeom prst="rect">
            <a:avLst/>
          </a:prstGeom>
          <a:noFill/>
          <a:ln/>
        </p:spPr>
        <p:txBody>
          <a:bodyPr wrap="square" rtlCol="0" anchor="t"/>
          <a:lstStyle/>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Public GitHub repository created, README enabled</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app.json / project configuration file uploaded</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Problem statement PDF (Challenge 6) uploaded</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This project presentation (.pptx) uploaded</a:t>
            </a:r>
            <a:endParaRPr lang="en-US" sz="1200" dirty="0"/>
          </a:p>
        </p:txBody>
      </p:sp>
      <p:sp>
        <p:nvSpPr>
          <p:cNvPr id="9" name="Text 7"/>
          <p:cNvSpPr/>
          <p:nvPr/>
        </p:nvSpPr>
        <p:spPr>
          <a:xfrm>
            <a:off x="11521440" y="6446520"/>
            <a:ext cx="548640" cy="320040"/>
          </a:xfrm>
          <a:prstGeom prst="rect">
            <a:avLst/>
          </a:prstGeom>
          <a:noFill/>
          <a:ln/>
        </p:spPr>
        <p:txBody>
          <a:bodyPr wrap="square" rtlCol="0" anchor="ctr"/>
          <a:lstStyle/>
          <a:p>
            <a:pPr marL="0" indent="0" algn="r">
              <a:buNone/>
            </a:pPr>
            <a:r>
              <a:rPr lang="en-US" sz="1100" dirty="0">
                <a:solidFill>
                  <a:srgbClr val="8A9AB8"/>
                </a:solidFill>
                <a:latin typeface="Arial" pitchFamily="34" charset="0"/>
                <a:ea typeface="Arial" pitchFamily="34" charset="-122"/>
                <a:cs typeface="Arial" pitchFamily="34" charset="-120"/>
              </a:rPr>
              <a:t>12</a:t>
            </a:r>
            <a:endParaRPr lang="en-US" sz="1100" dirty="0"/>
          </a:p>
        </p:txBody>
      </p:sp>
      <p:sp>
        <p:nvSpPr>
          <p:cNvPr id="11" name="Text 1">
            <a:extLst>
              <a:ext uri="{FF2B5EF4-FFF2-40B4-BE49-F238E27FC236}">
                <a16:creationId xmlns:a16="http://schemas.microsoft.com/office/drawing/2014/main" id="{81F14DAF-5053-D1E0-687A-98C08DE1D620}"/>
              </a:ext>
            </a:extLst>
          </p:cNvPr>
          <p:cNvSpPr/>
          <p:nvPr/>
        </p:nvSpPr>
        <p:spPr>
          <a:xfrm>
            <a:off x="563880" y="4096512"/>
            <a:ext cx="11064240" cy="822960"/>
          </a:xfrm>
          <a:prstGeom prst="rect">
            <a:avLst/>
          </a:prstGeom>
          <a:noFill/>
          <a:ln/>
        </p:spPr>
        <p:txBody>
          <a:bodyPr wrap="square" rtlCol="0" anchor="ctr"/>
          <a:lstStyle/>
          <a:p>
            <a:r>
              <a:rPr lang="en-US" sz="3000" b="1" dirty="0">
                <a:solidFill>
                  <a:srgbClr val="FFFFFF"/>
                </a:solidFill>
                <a:latin typeface="Arial" pitchFamily="34" charset="0"/>
                <a:ea typeface="Arial" pitchFamily="34" charset="-122"/>
                <a:cs typeface="Arial" pitchFamily="34" charset="-120"/>
              </a:rPr>
              <a:t>Link - </a:t>
            </a:r>
            <a:r>
              <a:rPr lang="en-US" sz="3000" b="1" dirty="0">
                <a:solidFill>
                  <a:srgbClr val="FFFFFF"/>
                </a:solidFill>
                <a:latin typeface="Arial" pitchFamily="34" charset="0"/>
                <a:ea typeface="Arial" pitchFamily="34" charset="-122"/>
                <a:cs typeface="Arial" pitchFamily="34" charset="-120"/>
                <a:hlinkClick r:id="rId3"/>
              </a:rPr>
              <a:t>https://github.com/OmkarGunde/SafeSurge-AI</a:t>
            </a:r>
            <a:endParaRPr lang="en-US" sz="3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marL="0" indent="0">
              <a:buNone/>
            </a:pPr>
            <a:r>
              <a:rPr lang="en-US" sz="1300" b="1" kern="0" spc="200" dirty="0">
                <a:solidFill>
                  <a:srgbClr val="60A5FA"/>
                </a:solidFill>
                <a:latin typeface="Arial" pitchFamily="34" charset="0"/>
                <a:ea typeface="Arial" pitchFamily="34" charset="-122"/>
                <a:cs typeface="Arial" pitchFamily="34" charset="-120"/>
              </a:rPr>
              <a:t>WHAT'S NEXT</a:t>
            </a:r>
            <a:endParaRPr lang="en-US" sz="1300" dirty="0"/>
          </a:p>
        </p:txBody>
      </p:sp>
      <p:sp>
        <p:nvSpPr>
          <p:cNvPr id="3" name="Text 1"/>
          <p:cNvSpPr/>
          <p:nvPr/>
        </p:nvSpPr>
        <p:spPr>
          <a:xfrm>
            <a:off x="548640" y="713232"/>
            <a:ext cx="11064240" cy="82296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Future Scope</a:t>
            </a:r>
            <a:endParaRPr lang="en-US" sz="3000" dirty="0"/>
          </a:p>
        </p:txBody>
      </p:sp>
      <p:sp>
        <p:nvSpPr>
          <p:cNvPr id="4" name="Shape 2"/>
          <p:cNvSpPr/>
          <p:nvPr/>
        </p:nvSpPr>
        <p:spPr>
          <a:xfrm>
            <a:off x="548640" y="1737360"/>
            <a:ext cx="5349240" cy="4297680"/>
          </a:xfrm>
          <a:prstGeom prst="rect">
            <a:avLst/>
          </a:prstGeom>
          <a:solidFill>
            <a:srgbClr val="111827"/>
          </a:solidFill>
          <a:ln w="12700">
            <a:solidFill>
              <a:srgbClr val="2A3548"/>
            </a:solidFill>
            <a:prstDash val="solid"/>
          </a:ln>
        </p:spPr>
      </p:sp>
      <p:sp>
        <p:nvSpPr>
          <p:cNvPr id="5" name="Text 3"/>
          <p:cNvSpPr/>
          <p:nvPr/>
        </p:nvSpPr>
        <p:spPr>
          <a:xfrm>
            <a:off x="777240" y="1901952"/>
            <a:ext cx="4892040" cy="365760"/>
          </a:xfrm>
          <a:prstGeom prst="rect">
            <a:avLst/>
          </a:prstGeom>
          <a:noFill/>
          <a:ln/>
        </p:spPr>
        <p:txBody>
          <a:bodyPr wrap="square" rtlCol="0" anchor="ctr"/>
          <a:lstStyle/>
          <a:p>
            <a:pPr marL="0" indent="0">
              <a:buNone/>
            </a:pPr>
            <a:r>
              <a:rPr lang="en-US" sz="1500" b="1" dirty="0">
                <a:solidFill>
                  <a:srgbClr val="60A5FA"/>
                </a:solidFill>
                <a:latin typeface="Arial" pitchFamily="34" charset="0"/>
                <a:ea typeface="Arial" pitchFamily="34" charset="-122"/>
                <a:cs typeface="Arial" pitchFamily="34" charset="-120"/>
              </a:rPr>
              <a:t>Near-Term Enhancements</a:t>
            </a:r>
            <a:endParaRPr lang="en-US" sz="1500" dirty="0"/>
          </a:p>
        </p:txBody>
      </p:sp>
      <p:sp>
        <p:nvSpPr>
          <p:cNvPr id="6" name="Text 4"/>
          <p:cNvSpPr/>
          <p:nvPr/>
        </p:nvSpPr>
        <p:spPr>
          <a:xfrm>
            <a:off x="777240" y="2331720"/>
            <a:ext cx="4892040" cy="3520440"/>
          </a:xfrm>
          <a:prstGeom prst="rect">
            <a:avLst/>
          </a:prstGeom>
          <a:noFill/>
          <a:ln/>
        </p:spPr>
        <p:txBody>
          <a:bodyPr wrap="square" rtlCol="0" anchor="t"/>
          <a:lstStyle/>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IMD API integration once registration reopens, for authoritative cyclone track/intensity warnings alongside INCOIS ocean data</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SMS/IVR delivery of fishermen alerts for offline-first reach in low-connectivity coastal areas</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Real-time shelter capacity feeds from district disaster management authorities, replacing demonstration data with live government data</a:t>
            </a:r>
            <a:endParaRPr lang="en-US" sz="1200" dirty="0"/>
          </a:p>
        </p:txBody>
      </p:sp>
      <p:sp>
        <p:nvSpPr>
          <p:cNvPr id="7" name="Shape 5"/>
          <p:cNvSpPr/>
          <p:nvPr/>
        </p:nvSpPr>
        <p:spPr>
          <a:xfrm>
            <a:off x="6080760" y="1737360"/>
            <a:ext cx="5532120" cy="4297680"/>
          </a:xfrm>
          <a:prstGeom prst="rect">
            <a:avLst/>
          </a:prstGeom>
          <a:solidFill>
            <a:srgbClr val="111827"/>
          </a:solidFill>
          <a:ln w="12700">
            <a:solidFill>
              <a:srgbClr val="2A3548"/>
            </a:solidFill>
            <a:prstDash val="solid"/>
          </a:ln>
        </p:spPr>
      </p:sp>
      <p:sp>
        <p:nvSpPr>
          <p:cNvPr id="8" name="Text 6"/>
          <p:cNvSpPr/>
          <p:nvPr/>
        </p:nvSpPr>
        <p:spPr>
          <a:xfrm>
            <a:off x="6309360" y="1901952"/>
            <a:ext cx="5074920" cy="365760"/>
          </a:xfrm>
          <a:prstGeom prst="rect">
            <a:avLst/>
          </a:prstGeom>
          <a:noFill/>
          <a:ln/>
        </p:spPr>
        <p:txBody>
          <a:bodyPr wrap="square" rtlCol="0" anchor="ctr"/>
          <a:lstStyle/>
          <a:p>
            <a:pPr marL="0" indent="0">
              <a:buNone/>
            </a:pPr>
            <a:r>
              <a:rPr lang="en-US" sz="1500" b="1" dirty="0">
                <a:solidFill>
                  <a:srgbClr val="22C55E"/>
                </a:solidFill>
                <a:latin typeface="Arial" pitchFamily="34" charset="0"/>
                <a:ea typeface="Arial" pitchFamily="34" charset="-122"/>
                <a:cs typeface="Arial" pitchFamily="34" charset="-120"/>
              </a:rPr>
              <a:t>Longer-Term Vision</a:t>
            </a:r>
            <a:endParaRPr lang="en-US" sz="1500" dirty="0"/>
          </a:p>
        </p:txBody>
      </p:sp>
      <p:sp>
        <p:nvSpPr>
          <p:cNvPr id="9" name="Text 7"/>
          <p:cNvSpPr/>
          <p:nvPr/>
        </p:nvSpPr>
        <p:spPr>
          <a:xfrm>
            <a:off x="6309360" y="2331720"/>
            <a:ext cx="5074920" cy="3520440"/>
          </a:xfrm>
          <a:prstGeom prst="rect">
            <a:avLst/>
          </a:prstGeom>
          <a:noFill/>
          <a:ln/>
        </p:spPr>
        <p:txBody>
          <a:bodyPr wrap="square" rtlCol="0" anchor="t"/>
          <a:lstStyle/>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Vision-capable Granite model integration for genuine post-disaster image damage assessment</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Expansion beyond Gujarat to other Indian coastal states with state-specific settlement and shelter datasets</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Integration with NDRF/Coast Guard operational systems for direct relief-resource dispatch coordination</a:t>
            </a:r>
            <a:endParaRPr lang="en-US" sz="1200" dirty="0"/>
          </a:p>
          <a:p>
            <a:pPr marL="342900" indent="-342900">
              <a:spcAft>
                <a:spcPts val="600"/>
              </a:spcAft>
              <a:buSzPct val="100000"/>
              <a:buChar char="•"/>
            </a:pPr>
            <a:r>
              <a:rPr lang="en-US" sz="1200" dirty="0">
                <a:solidFill>
                  <a:srgbClr val="E8EDF5"/>
                </a:solidFill>
                <a:latin typeface="Arial" pitchFamily="34" charset="0"/>
                <a:ea typeface="Arial" pitchFamily="34" charset="-122"/>
                <a:cs typeface="Arial" pitchFamily="34" charset="-120"/>
              </a:rPr>
              <a:t>Wearable/IoT integration for real-time fisherman location and distress signaling</a:t>
            </a:r>
            <a:endParaRPr lang="en-US" sz="1200" dirty="0"/>
          </a:p>
        </p:txBody>
      </p:sp>
      <p:sp>
        <p:nvSpPr>
          <p:cNvPr id="10" name="Text 8"/>
          <p:cNvSpPr/>
          <p:nvPr/>
        </p:nvSpPr>
        <p:spPr>
          <a:xfrm>
            <a:off x="11521440" y="6446520"/>
            <a:ext cx="548640" cy="320040"/>
          </a:xfrm>
          <a:prstGeom prst="rect">
            <a:avLst/>
          </a:prstGeom>
          <a:noFill/>
          <a:ln/>
        </p:spPr>
        <p:txBody>
          <a:bodyPr wrap="square" rtlCol="0" anchor="ctr"/>
          <a:lstStyle/>
          <a:p>
            <a:pPr marL="0" indent="0" algn="r">
              <a:buNone/>
            </a:pPr>
            <a:r>
              <a:rPr lang="en-US" sz="1100" dirty="0">
                <a:solidFill>
                  <a:srgbClr val="8A9AB8"/>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marL="0" indent="0">
              <a:buNone/>
            </a:pPr>
            <a:r>
              <a:rPr lang="en-US" sz="1300" b="1" kern="0" spc="200" dirty="0">
                <a:solidFill>
                  <a:srgbClr val="60A5FA"/>
                </a:solidFill>
                <a:latin typeface="Arial" pitchFamily="34" charset="0"/>
                <a:ea typeface="Arial" pitchFamily="34" charset="-122"/>
                <a:cs typeface="Arial" pitchFamily="34" charset="-120"/>
              </a:rPr>
              <a:t>CERTIFICATION</a:t>
            </a:r>
            <a:endParaRPr lang="en-US" sz="1300" dirty="0"/>
          </a:p>
        </p:txBody>
      </p:sp>
      <p:sp>
        <p:nvSpPr>
          <p:cNvPr id="3" name="Text 1"/>
          <p:cNvSpPr/>
          <p:nvPr/>
        </p:nvSpPr>
        <p:spPr>
          <a:xfrm>
            <a:off x="548640" y="713232"/>
            <a:ext cx="11064240" cy="82296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Certificates Earned — Credly</a:t>
            </a:r>
            <a:endParaRPr lang="en-US" sz="3000" dirty="0"/>
          </a:p>
        </p:txBody>
      </p:sp>
      <p:sp>
        <p:nvSpPr>
          <p:cNvPr id="6" name="Text 4"/>
          <p:cNvSpPr/>
          <p:nvPr/>
        </p:nvSpPr>
        <p:spPr>
          <a:xfrm>
            <a:off x="11521440" y="6446520"/>
            <a:ext cx="548640" cy="320040"/>
          </a:xfrm>
          <a:prstGeom prst="rect">
            <a:avLst/>
          </a:prstGeom>
          <a:noFill/>
          <a:ln/>
        </p:spPr>
        <p:txBody>
          <a:bodyPr wrap="square" rtlCol="0" anchor="ctr"/>
          <a:lstStyle/>
          <a:p>
            <a:pPr marL="0" indent="0" algn="r">
              <a:buNone/>
            </a:pPr>
            <a:r>
              <a:rPr lang="en-US" sz="1100" dirty="0">
                <a:solidFill>
                  <a:srgbClr val="8A9AB8"/>
                </a:solidFill>
                <a:latin typeface="Arial" pitchFamily="34" charset="0"/>
                <a:ea typeface="Arial" pitchFamily="34" charset="-122"/>
                <a:cs typeface="Arial" pitchFamily="34" charset="-120"/>
              </a:rPr>
              <a:t>14</a:t>
            </a:r>
            <a:endParaRPr lang="en-US" sz="1100" dirty="0"/>
          </a:p>
        </p:txBody>
      </p:sp>
      <p:pic>
        <p:nvPicPr>
          <p:cNvPr id="8" name="Picture 7">
            <a:extLst>
              <a:ext uri="{FF2B5EF4-FFF2-40B4-BE49-F238E27FC236}">
                <a16:creationId xmlns:a16="http://schemas.microsoft.com/office/drawing/2014/main" id="{FDBCBE0C-907B-6263-DDF7-A0B11803DE76}"/>
              </a:ext>
            </a:extLst>
          </p:cNvPr>
          <p:cNvPicPr>
            <a:picLocks noChangeAspect="1"/>
          </p:cNvPicPr>
          <p:nvPr/>
        </p:nvPicPr>
        <p:blipFill>
          <a:blip r:embed="rId3"/>
          <a:stretch>
            <a:fillRect/>
          </a:stretch>
        </p:blipFill>
        <p:spPr>
          <a:xfrm>
            <a:off x="2675136" y="1458365"/>
            <a:ext cx="6294298" cy="485576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marL="0" indent="0">
              <a:buNone/>
            </a:pPr>
            <a:r>
              <a:rPr lang="en-US" sz="1300" b="1" kern="0" spc="200" dirty="0">
                <a:solidFill>
                  <a:srgbClr val="60A5FA"/>
                </a:solidFill>
                <a:latin typeface="Arial" pitchFamily="34" charset="0"/>
                <a:ea typeface="Arial" pitchFamily="34" charset="-122"/>
                <a:cs typeface="Arial" pitchFamily="34" charset="-120"/>
              </a:rPr>
              <a:t>CERTIFICATION</a:t>
            </a:r>
            <a:endParaRPr lang="en-US" sz="1300" dirty="0"/>
          </a:p>
        </p:txBody>
      </p:sp>
      <p:sp>
        <p:nvSpPr>
          <p:cNvPr id="3" name="Text 1"/>
          <p:cNvSpPr/>
          <p:nvPr/>
        </p:nvSpPr>
        <p:spPr>
          <a:xfrm>
            <a:off x="548640" y="713232"/>
            <a:ext cx="11064240" cy="82296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Certificates Earned — IBM Bob</a:t>
            </a:r>
            <a:endParaRPr lang="en-US" sz="3000" dirty="0"/>
          </a:p>
        </p:txBody>
      </p:sp>
      <p:sp>
        <p:nvSpPr>
          <p:cNvPr id="6" name="Text 4"/>
          <p:cNvSpPr/>
          <p:nvPr/>
        </p:nvSpPr>
        <p:spPr>
          <a:xfrm>
            <a:off x="11521440" y="6446520"/>
            <a:ext cx="548640" cy="320040"/>
          </a:xfrm>
          <a:prstGeom prst="rect">
            <a:avLst/>
          </a:prstGeom>
          <a:noFill/>
          <a:ln/>
        </p:spPr>
        <p:txBody>
          <a:bodyPr wrap="square" rtlCol="0" anchor="ctr"/>
          <a:lstStyle/>
          <a:p>
            <a:pPr marL="0" indent="0" algn="r">
              <a:buNone/>
            </a:pPr>
            <a:r>
              <a:rPr lang="en-US" sz="1100" dirty="0">
                <a:solidFill>
                  <a:srgbClr val="8A9AB8"/>
                </a:solidFill>
                <a:latin typeface="Arial" pitchFamily="34" charset="0"/>
                <a:ea typeface="Arial" pitchFamily="34" charset="-122"/>
                <a:cs typeface="Arial" pitchFamily="34" charset="-120"/>
              </a:rPr>
              <a:t>15</a:t>
            </a:r>
            <a:endParaRPr lang="en-US" sz="1100" dirty="0"/>
          </a:p>
        </p:txBody>
      </p:sp>
      <p:pic>
        <p:nvPicPr>
          <p:cNvPr id="8" name="Picture 7">
            <a:extLst>
              <a:ext uri="{FF2B5EF4-FFF2-40B4-BE49-F238E27FC236}">
                <a16:creationId xmlns:a16="http://schemas.microsoft.com/office/drawing/2014/main" id="{DBAD1D92-97E2-A49A-D6AA-B7158A9EE6C0}"/>
              </a:ext>
            </a:extLst>
          </p:cNvPr>
          <p:cNvPicPr>
            <a:picLocks noChangeAspect="1"/>
          </p:cNvPicPr>
          <p:nvPr/>
        </p:nvPicPr>
        <p:blipFill>
          <a:blip r:embed="rId3"/>
          <a:stretch>
            <a:fillRect/>
          </a:stretch>
        </p:blipFill>
        <p:spPr>
          <a:xfrm>
            <a:off x="2199715" y="1371600"/>
            <a:ext cx="7792570" cy="48142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marL="0" indent="0">
              <a:buNone/>
            </a:pPr>
            <a:r>
              <a:rPr lang="en-US" sz="1300" b="1" kern="0" spc="200" dirty="0">
                <a:solidFill>
                  <a:srgbClr val="60A5FA"/>
                </a:solidFill>
                <a:latin typeface="Arial" pitchFamily="34" charset="0"/>
                <a:ea typeface="Arial" pitchFamily="34" charset="-122"/>
                <a:cs typeface="Arial" pitchFamily="34" charset="-120"/>
              </a:rPr>
              <a:t>APPLICATION WALKTHROUGH</a:t>
            </a:r>
            <a:endParaRPr lang="en-US" sz="1300" dirty="0"/>
          </a:p>
        </p:txBody>
      </p:sp>
      <p:sp>
        <p:nvSpPr>
          <p:cNvPr id="3" name="Text 1"/>
          <p:cNvSpPr/>
          <p:nvPr/>
        </p:nvSpPr>
        <p:spPr>
          <a:xfrm>
            <a:off x="548640" y="713232"/>
            <a:ext cx="11064240" cy="82296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Command Center Dashboard</a:t>
            </a:r>
            <a:endParaRPr lang="en-US" sz="3000" dirty="0"/>
          </a:p>
        </p:txBody>
      </p:sp>
      <p:sp>
        <p:nvSpPr>
          <p:cNvPr id="6" name="Text 4"/>
          <p:cNvSpPr/>
          <p:nvPr/>
        </p:nvSpPr>
        <p:spPr>
          <a:xfrm>
            <a:off x="11521440" y="6446520"/>
            <a:ext cx="548640" cy="320040"/>
          </a:xfrm>
          <a:prstGeom prst="rect">
            <a:avLst/>
          </a:prstGeom>
          <a:noFill/>
          <a:ln/>
        </p:spPr>
        <p:txBody>
          <a:bodyPr wrap="square" rtlCol="0" anchor="ctr"/>
          <a:lstStyle/>
          <a:p>
            <a:pPr marL="0" indent="0" algn="r">
              <a:buNone/>
            </a:pPr>
            <a:r>
              <a:rPr lang="en-US" sz="1100" dirty="0">
                <a:solidFill>
                  <a:srgbClr val="8A9AB8"/>
                </a:solidFill>
                <a:latin typeface="Arial" pitchFamily="34" charset="0"/>
                <a:ea typeface="Arial" pitchFamily="34" charset="-122"/>
                <a:cs typeface="Arial" pitchFamily="34" charset="-120"/>
              </a:rPr>
              <a:t>16</a:t>
            </a:r>
            <a:endParaRPr lang="en-US" sz="1100" dirty="0"/>
          </a:p>
        </p:txBody>
      </p:sp>
      <p:pic>
        <p:nvPicPr>
          <p:cNvPr id="8" name="Picture 7">
            <a:extLst>
              <a:ext uri="{FF2B5EF4-FFF2-40B4-BE49-F238E27FC236}">
                <a16:creationId xmlns:a16="http://schemas.microsoft.com/office/drawing/2014/main" id="{62D6E8A8-47D6-B2CA-2E20-1A70FA57B8FE}"/>
              </a:ext>
            </a:extLst>
          </p:cNvPr>
          <p:cNvPicPr>
            <a:picLocks noChangeAspect="1"/>
          </p:cNvPicPr>
          <p:nvPr/>
        </p:nvPicPr>
        <p:blipFill>
          <a:blip r:embed="rId3"/>
          <a:stretch>
            <a:fillRect/>
          </a:stretch>
        </p:blipFill>
        <p:spPr>
          <a:xfrm>
            <a:off x="976745" y="1437375"/>
            <a:ext cx="10116589" cy="478123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marL="0" indent="0">
              <a:buNone/>
            </a:pPr>
            <a:r>
              <a:rPr lang="en-US" sz="1300" b="1" kern="0" spc="200" dirty="0">
                <a:solidFill>
                  <a:srgbClr val="60A5FA"/>
                </a:solidFill>
                <a:latin typeface="Arial" pitchFamily="34" charset="0"/>
                <a:ea typeface="Arial" pitchFamily="34" charset="-122"/>
                <a:cs typeface="Arial" pitchFamily="34" charset="-120"/>
              </a:rPr>
              <a:t>APPLICATION WALKTHROUGH</a:t>
            </a:r>
            <a:endParaRPr lang="en-US" sz="1300" dirty="0"/>
          </a:p>
        </p:txBody>
      </p:sp>
      <p:sp>
        <p:nvSpPr>
          <p:cNvPr id="3" name="Text 1"/>
          <p:cNvSpPr/>
          <p:nvPr/>
        </p:nvSpPr>
        <p:spPr>
          <a:xfrm>
            <a:off x="548640" y="713232"/>
            <a:ext cx="11064240" cy="82296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Biparjoy Historical Replay + Simulate Intensification</a:t>
            </a:r>
            <a:endParaRPr lang="en-US" sz="3000" dirty="0"/>
          </a:p>
        </p:txBody>
      </p:sp>
      <p:sp>
        <p:nvSpPr>
          <p:cNvPr id="6" name="Text 4"/>
          <p:cNvSpPr/>
          <p:nvPr/>
        </p:nvSpPr>
        <p:spPr>
          <a:xfrm>
            <a:off x="11521440" y="6446520"/>
            <a:ext cx="548640" cy="320040"/>
          </a:xfrm>
          <a:prstGeom prst="rect">
            <a:avLst/>
          </a:prstGeom>
          <a:noFill/>
          <a:ln/>
        </p:spPr>
        <p:txBody>
          <a:bodyPr wrap="square" rtlCol="0" anchor="ctr"/>
          <a:lstStyle/>
          <a:p>
            <a:pPr marL="0" indent="0" algn="r">
              <a:buNone/>
            </a:pPr>
            <a:r>
              <a:rPr lang="en-US" sz="1100" dirty="0">
                <a:solidFill>
                  <a:srgbClr val="8A9AB8"/>
                </a:solidFill>
                <a:latin typeface="Arial" pitchFamily="34" charset="0"/>
                <a:ea typeface="Arial" pitchFamily="34" charset="-122"/>
                <a:cs typeface="Arial" pitchFamily="34" charset="-120"/>
              </a:rPr>
              <a:t>17</a:t>
            </a:r>
            <a:endParaRPr lang="en-US" sz="1100" dirty="0"/>
          </a:p>
        </p:txBody>
      </p:sp>
      <p:pic>
        <p:nvPicPr>
          <p:cNvPr id="8" name="Picture 7">
            <a:extLst>
              <a:ext uri="{FF2B5EF4-FFF2-40B4-BE49-F238E27FC236}">
                <a16:creationId xmlns:a16="http://schemas.microsoft.com/office/drawing/2014/main" id="{F601E201-85AB-28FD-39EF-6D18680A525F}"/>
              </a:ext>
            </a:extLst>
          </p:cNvPr>
          <p:cNvPicPr>
            <a:picLocks noChangeAspect="1"/>
          </p:cNvPicPr>
          <p:nvPr/>
        </p:nvPicPr>
        <p:blipFill>
          <a:blip r:embed="rId3"/>
          <a:stretch>
            <a:fillRect/>
          </a:stretch>
        </p:blipFill>
        <p:spPr>
          <a:xfrm>
            <a:off x="1323638" y="1536192"/>
            <a:ext cx="9241839" cy="48509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marL="0" indent="0">
              <a:buNone/>
            </a:pPr>
            <a:r>
              <a:rPr lang="en-US" sz="1300" b="1" kern="0" spc="200" dirty="0">
                <a:solidFill>
                  <a:srgbClr val="60A5FA"/>
                </a:solidFill>
                <a:latin typeface="Arial" pitchFamily="34" charset="0"/>
                <a:ea typeface="Arial" pitchFamily="34" charset="-122"/>
                <a:cs typeface="Arial" pitchFamily="34" charset="-120"/>
              </a:rPr>
              <a:t>APPLICATION WALKTHROUGH</a:t>
            </a:r>
            <a:endParaRPr lang="en-US" sz="1300" dirty="0"/>
          </a:p>
        </p:txBody>
      </p:sp>
      <p:sp>
        <p:nvSpPr>
          <p:cNvPr id="3" name="Text 1"/>
          <p:cNvSpPr/>
          <p:nvPr/>
        </p:nvSpPr>
        <p:spPr>
          <a:xfrm>
            <a:off x="548640" y="713232"/>
            <a:ext cx="11064240" cy="82296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Fishermen Safety Alert Card</a:t>
            </a:r>
            <a:endParaRPr lang="en-US" sz="3000" dirty="0"/>
          </a:p>
        </p:txBody>
      </p:sp>
      <p:sp>
        <p:nvSpPr>
          <p:cNvPr id="6" name="Text 4"/>
          <p:cNvSpPr/>
          <p:nvPr/>
        </p:nvSpPr>
        <p:spPr>
          <a:xfrm>
            <a:off x="11521440" y="6446520"/>
            <a:ext cx="548640" cy="320040"/>
          </a:xfrm>
          <a:prstGeom prst="rect">
            <a:avLst/>
          </a:prstGeom>
          <a:noFill/>
          <a:ln/>
        </p:spPr>
        <p:txBody>
          <a:bodyPr wrap="square" rtlCol="0" anchor="ctr"/>
          <a:lstStyle/>
          <a:p>
            <a:pPr marL="0" indent="0" algn="r">
              <a:buNone/>
            </a:pPr>
            <a:r>
              <a:rPr lang="en-US" sz="1100" dirty="0">
                <a:solidFill>
                  <a:srgbClr val="8A9AB8"/>
                </a:solidFill>
                <a:latin typeface="Arial" pitchFamily="34" charset="0"/>
                <a:ea typeface="Arial" pitchFamily="34" charset="-122"/>
                <a:cs typeface="Arial" pitchFamily="34" charset="-120"/>
              </a:rPr>
              <a:t>18</a:t>
            </a:r>
            <a:endParaRPr lang="en-US" sz="1100" dirty="0"/>
          </a:p>
        </p:txBody>
      </p:sp>
      <p:pic>
        <p:nvPicPr>
          <p:cNvPr id="8" name="Picture 7">
            <a:extLst>
              <a:ext uri="{FF2B5EF4-FFF2-40B4-BE49-F238E27FC236}">
                <a16:creationId xmlns:a16="http://schemas.microsoft.com/office/drawing/2014/main" id="{6941527A-99AB-7B73-5825-FCE9F0C1E64F}"/>
              </a:ext>
            </a:extLst>
          </p:cNvPr>
          <p:cNvPicPr>
            <a:picLocks noChangeAspect="1"/>
          </p:cNvPicPr>
          <p:nvPr/>
        </p:nvPicPr>
        <p:blipFill>
          <a:blip r:embed="rId3"/>
          <a:stretch>
            <a:fillRect/>
          </a:stretch>
        </p:blipFill>
        <p:spPr>
          <a:xfrm>
            <a:off x="540045" y="1596082"/>
            <a:ext cx="11255715" cy="450381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marL="0" indent="0">
              <a:buNone/>
            </a:pPr>
            <a:r>
              <a:rPr lang="en-US" sz="1300" b="1" kern="0" spc="200" dirty="0">
                <a:solidFill>
                  <a:srgbClr val="60A5FA"/>
                </a:solidFill>
                <a:latin typeface="Arial" pitchFamily="34" charset="0"/>
                <a:ea typeface="Arial" pitchFamily="34" charset="-122"/>
                <a:cs typeface="Arial" pitchFamily="34" charset="-120"/>
              </a:rPr>
              <a:t>APPLICATION WALKTHROUGH</a:t>
            </a:r>
            <a:endParaRPr lang="en-US" sz="1300" dirty="0"/>
          </a:p>
        </p:txBody>
      </p:sp>
      <p:sp>
        <p:nvSpPr>
          <p:cNvPr id="3" name="Text 1"/>
          <p:cNvSpPr/>
          <p:nvPr/>
        </p:nvSpPr>
        <p:spPr>
          <a:xfrm>
            <a:off x="548640" y="713232"/>
            <a:ext cx="11064240" cy="82296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Evacuation Priority List &amp; Relief Coordination</a:t>
            </a:r>
            <a:endParaRPr lang="en-US" sz="3000" dirty="0"/>
          </a:p>
        </p:txBody>
      </p:sp>
      <p:sp>
        <p:nvSpPr>
          <p:cNvPr id="6" name="Text 4"/>
          <p:cNvSpPr/>
          <p:nvPr/>
        </p:nvSpPr>
        <p:spPr>
          <a:xfrm>
            <a:off x="11521440" y="6446520"/>
            <a:ext cx="548640" cy="320040"/>
          </a:xfrm>
          <a:prstGeom prst="rect">
            <a:avLst/>
          </a:prstGeom>
          <a:noFill/>
          <a:ln/>
        </p:spPr>
        <p:txBody>
          <a:bodyPr wrap="square" rtlCol="0" anchor="ctr"/>
          <a:lstStyle/>
          <a:p>
            <a:pPr marL="0" indent="0" algn="r">
              <a:buNone/>
            </a:pPr>
            <a:r>
              <a:rPr lang="en-US" sz="1100" dirty="0">
                <a:solidFill>
                  <a:srgbClr val="8A9AB8"/>
                </a:solidFill>
                <a:latin typeface="Arial" pitchFamily="34" charset="0"/>
                <a:ea typeface="Arial" pitchFamily="34" charset="-122"/>
                <a:cs typeface="Arial" pitchFamily="34" charset="-120"/>
              </a:rPr>
              <a:t>19</a:t>
            </a:r>
            <a:endParaRPr lang="en-US" sz="1100" dirty="0"/>
          </a:p>
        </p:txBody>
      </p:sp>
      <p:pic>
        <p:nvPicPr>
          <p:cNvPr id="8" name="Picture 7">
            <a:extLst>
              <a:ext uri="{FF2B5EF4-FFF2-40B4-BE49-F238E27FC236}">
                <a16:creationId xmlns:a16="http://schemas.microsoft.com/office/drawing/2014/main" id="{4A7A2266-8B07-6A78-39EF-DBCE56C41F11}"/>
              </a:ext>
            </a:extLst>
          </p:cNvPr>
          <p:cNvPicPr>
            <a:picLocks noChangeAspect="1"/>
          </p:cNvPicPr>
          <p:nvPr/>
        </p:nvPicPr>
        <p:blipFill>
          <a:blip r:embed="rId3"/>
          <a:stretch>
            <a:fillRect/>
          </a:stretch>
        </p:blipFill>
        <p:spPr>
          <a:xfrm>
            <a:off x="2077766" y="1401567"/>
            <a:ext cx="7914548" cy="466672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a:extLst>
            <a:ext uri="{FF2B5EF4-FFF2-40B4-BE49-F238E27FC236}">
              <a16:creationId xmlns:a16="http://schemas.microsoft.com/office/drawing/2014/main" id="{64D03C9A-D5DB-F3CC-726B-C3CCD476166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2EFC0D3-2239-F401-F209-7A9EF7F777E4}"/>
              </a:ext>
            </a:extLst>
          </p:cNvPr>
          <p:cNvSpPr/>
          <p:nvPr/>
        </p:nvSpPr>
        <p:spPr>
          <a:xfrm>
            <a:off x="548640" y="365760"/>
            <a:ext cx="109728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200" normalizeH="0" baseline="0" noProof="0" dirty="0">
                <a:ln>
                  <a:noFill/>
                </a:ln>
                <a:solidFill>
                  <a:srgbClr val="60A5FA"/>
                </a:solidFill>
                <a:effectLst/>
                <a:uLnTx/>
                <a:uFillTx/>
                <a:latin typeface="Arial" pitchFamily="34" charset="0"/>
                <a:ea typeface="Arial" pitchFamily="34" charset="-122"/>
                <a:cs typeface="Arial" pitchFamily="34" charset="-120"/>
              </a:rPr>
              <a:t>APPLICATION WALKTHROUGH</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0DF7FF98-9676-D61E-7983-75DB0FBB60B2}"/>
              </a:ext>
            </a:extLst>
          </p:cNvPr>
          <p:cNvSpPr/>
          <p:nvPr/>
        </p:nvSpPr>
        <p:spPr>
          <a:xfrm>
            <a:off x="548640" y="713232"/>
            <a:ext cx="1106424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000" b="1" dirty="0">
                <a:solidFill>
                  <a:srgbClr val="FFFFFF"/>
                </a:solidFill>
                <a:latin typeface="Arial" pitchFamily="34" charset="0"/>
                <a:cs typeface="Arial" pitchFamily="34" charset="-120"/>
              </a:rPr>
              <a:t>Agent Reasoning panel</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6927AF75-BB78-1068-F5CE-C25499EB9201}"/>
              </a:ext>
            </a:extLst>
          </p:cNvPr>
          <p:cNvSpPr/>
          <p:nvPr/>
        </p:nvSpPr>
        <p:spPr>
          <a:xfrm>
            <a:off x="11521440" y="6446520"/>
            <a:ext cx="54864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A9AB8"/>
                </a:solidFill>
                <a:effectLst/>
                <a:uLnTx/>
                <a:uFillTx/>
                <a:latin typeface="Arial" pitchFamily="34" charset="0"/>
                <a:ea typeface="Arial" pitchFamily="34" charset="-122"/>
                <a:cs typeface="Arial" pitchFamily="34" charset="-120"/>
              </a:rPr>
              <a:t>18</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B9147CBE-A855-5FBD-AC1A-E471E5A4E102}"/>
              </a:ext>
            </a:extLst>
          </p:cNvPr>
          <p:cNvPicPr>
            <a:picLocks noChangeAspect="1"/>
          </p:cNvPicPr>
          <p:nvPr/>
        </p:nvPicPr>
        <p:blipFill>
          <a:blip r:embed="rId3"/>
          <a:stretch>
            <a:fillRect/>
          </a:stretch>
        </p:blipFill>
        <p:spPr>
          <a:xfrm>
            <a:off x="4334943" y="1376043"/>
            <a:ext cx="2547995" cy="4768725"/>
          </a:xfrm>
          <a:prstGeom prst="rect">
            <a:avLst/>
          </a:prstGeom>
        </p:spPr>
      </p:pic>
    </p:spTree>
    <p:extLst>
      <p:ext uri="{BB962C8B-B14F-4D97-AF65-F5344CB8AC3E}">
        <p14:creationId xmlns:p14="http://schemas.microsoft.com/office/powerpoint/2010/main" val="17053895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TotalTime>
  <Words>1543</Words>
  <Application>Microsoft Office PowerPoint</Application>
  <PresentationFormat>Widescreen</PresentationFormat>
  <Paragraphs>216</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Omkar gunde</cp:lastModifiedBy>
  <cp:revision>9</cp:revision>
  <dcterms:created xsi:type="dcterms:W3CDTF">2026-08-13T10:13:17Z</dcterms:created>
  <dcterms:modified xsi:type="dcterms:W3CDTF">2026-08-14T18:55:07Z</dcterms:modified>
</cp:coreProperties>
</file>